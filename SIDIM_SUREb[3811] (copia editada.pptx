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21945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4F84D-21F8-4E6D-8501-41FAAE6CA862}" v="3" dt="2024-02-28T13:21:16.805"/>
    <p1510:client id="{955FE5B8-59E4-43A4-AFC3-450B3D235A8B}" v="2" dt="2024-02-27T21:39:09.7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31" d="100"/>
          <a:sy n="31" d="100"/>
        </p:scale>
        <p:origin x="1092" y="-2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Barreiro" userId="b1b9fb65cfc13dc1" providerId="LiveId" clId="{5CB4F84D-21F8-4E6D-8501-41FAAE6CA862}"/>
    <pc:docChg chg="undo custSel modSld">
      <pc:chgData name="Daniel Barreiro" userId="b1b9fb65cfc13dc1" providerId="LiveId" clId="{5CB4F84D-21F8-4E6D-8501-41FAAE6CA862}" dt="2024-02-28T13:25:18.252" v="92" actId="20577"/>
      <pc:docMkLst>
        <pc:docMk/>
      </pc:docMkLst>
      <pc:sldChg chg="addSp delSp modSp mod">
        <pc:chgData name="Daniel Barreiro" userId="b1b9fb65cfc13dc1" providerId="LiveId" clId="{5CB4F84D-21F8-4E6D-8501-41FAAE6CA862}" dt="2024-02-28T13:25:18.252" v="92" actId="20577"/>
        <pc:sldMkLst>
          <pc:docMk/>
          <pc:sldMk cId="1167331345" sldId="256"/>
        </pc:sldMkLst>
        <pc:spChg chg="mod">
          <ac:chgData name="Daniel Barreiro" userId="b1b9fb65cfc13dc1" providerId="LiveId" clId="{5CB4F84D-21F8-4E6D-8501-41FAAE6CA862}" dt="2024-02-28T13:25:18.252" v="92" actId="20577"/>
          <ac:spMkLst>
            <pc:docMk/>
            <pc:sldMk cId="1167331345" sldId="256"/>
            <ac:spMk id="8" creationId="{A10CA434-CE44-1B06-6D34-F3E3FA9E1D4E}"/>
          </ac:spMkLst>
        </pc:spChg>
        <pc:picChg chg="del">
          <ac:chgData name="Daniel Barreiro" userId="b1b9fb65cfc13dc1" providerId="LiveId" clId="{5CB4F84D-21F8-4E6D-8501-41FAAE6CA862}" dt="2024-02-28T12:48:05.707" v="3" actId="478"/>
          <ac:picMkLst>
            <pc:docMk/>
            <pc:sldMk cId="1167331345" sldId="256"/>
            <ac:picMk id="4" creationId="{FC684BEC-E816-88AE-FA56-9DD0926D0BBC}"/>
          </ac:picMkLst>
        </pc:picChg>
        <pc:picChg chg="add mod">
          <ac:chgData name="Daniel Barreiro" userId="b1b9fb65cfc13dc1" providerId="LiveId" clId="{5CB4F84D-21F8-4E6D-8501-41FAAE6CA862}" dt="2024-02-28T13:23:52.041" v="68" actId="1076"/>
          <ac:picMkLst>
            <pc:docMk/>
            <pc:sldMk cId="1167331345" sldId="256"/>
            <ac:picMk id="6" creationId="{7194839D-1407-88F5-84C7-DEF91708CF68}"/>
          </ac:picMkLst>
        </pc:picChg>
        <pc:picChg chg="add mod">
          <ac:chgData name="Daniel Barreiro" userId="b1b9fb65cfc13dc1" providerId="LiveId" clId="{5CB4F84D-21F8-4E6D-8501-41FAAE6CA862}" dt="2024-02-28T13:22:10.637" v="51" actId="1076"/>
          <ac:picMkLst>
            <pc:docMk/>
            <pc:sldMk cId="1167331345" sldId="256"/>
            <ac:picMk id="10" creationId="{F551CAA0-3D3C-7F07-E9D5-B63D9C662923}"/>
          </ac:picMkLst>
        </pc:picChg>
        <pc:picChg chg="add mod">
          <ac:chgData name="Daniel Barreiro" userId="b1b9fb65cfc13dc1" providerId="LiveId" clId="{5CB4F84D-21F8-4E6D-8501-41FAAE6CA862}" dt="2024-02-28T13:22:27.285" v="54" actId="1076"/>
          <ac:picMkLst>
            <pc:docMk/>
            <pc:sldMk cId="1167331345" sldId="256"/>
            <ac:picMk id="13" creationId="{89D59971-54DB-EE9A-2606-7B7F6386EFC0}"/>
          </ac:picMkLst>
        </pc:picChg>
        <pc:picChg chg="del mod">
          <ac:chgData name="Daniel Barreiro" userId="b1b9fb65cfc13dc1" providerId="LiveId" clId="{5CB4F84D-21F8-4E6D-8501-41FAAE6CA862}" dt="2024-02-28T13:14:32.271" v="26" actId="478"/>
          <ac:picMkLst>
            <pc:docMk/>
            <pc:sldMk cId="1167331345" sldId="256"/>
            <ac:picMk id="25" creationId="{264B626E-3E04-8D70-6F5A-949BE6A4651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B0B4D9-3E61-48FD-903D-B57247FE8143}" type="datetimeFigureOut">
              <a:rPr lang="en-US" smtClean="0"/>
              <a:t>2/28/2024</a:t>
            </a:fld>
            <a:endParaRPr lang="en-US"/>
          </a:p>
        </p:txBody>
      </p:sp>
      <p:sp>
        <p:nvSpPr>
          <p:cNvPr id="4" name="Slide Image Placeholder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D2129-B507-4BA5-9169-CC0EA37E547B}" type="slidenum">
              <a:rPr lang="en-US" smtClean="0"/>
              <a:t>‹#›</a:t>
            </a:fld>
            <a:endParaRPr lang="en-US"/>
          </a:p>
        </p:txBody>
      </p:sp>
    </p:spTree>
    <p:extLst>
      <p:ext uri="{BB962C8B-B14F-4D97-AF65-F5344CB8AC3E}">
        <p14:creationId xmlns:p14="http://schemas.microsoft.com/office/powerpoint/2010/main" val="3501273000"/>
      </p:ext>
    </p:extLst>
  </p:cSld>
  <p:clrMap bg1="lt1" tx1="dk1" bg2="lt2" tx2="dk2" accent1="accent1" accent2="accent2" accent3="accent3" accent4="accent4" accent5="accent5" accent6="accent6" hlink="hlink" folHlink="folHlink"/>
  <p:notesStyle>
    <a:lvl1pPr marL="0" algn="l" defTabSz="2721254" rtl="0" eaLnBrk="1" latinLnBrk="0" hangingPunct="1">
      <a:defRPr sz="3571" kern="1200">
        <a:solidFill>
          <a:schemeClr val="tx1"/>
        </a:solidFill>
        <a:latin typeface="+mn-lt"/>
        <a:ea typeface="+mn-ea"/>
        <a:cs typeface="+mn-cs"/>
      </a:defRPr>
    </a:lvl1pPr>
    <a:lvl2pPr marL="1360627" algn="l" defTabSz="2721254" rtl="0" eaLnBrk="1" latinLnBrk="0" hangingPunct="1">
      <a:defRPr sz="3571" kern="1200">
        <a:solidFill>
          <a:schemeClr val="tx1"/>
        </a:solidFill>
        <a:latin typeface="+mn-lt"/>
        <a:ea typeface="+mn-ea"/>
        <a:cs typeface="+mn-cs"/>
      </a:defRPr>
    </a:lvl2pPr>
    <a:lvl3pPr marL="2721254" algn="l" defTabSz="2721254" rtl="0" eaLnBrk="1" latinLnBrk="0" hangingPunct="1">
      <a:defRPr sz="3571" kern="1200">
        <a:solidFill>
          <a:schemeClr val="tx1"/>
        </a:solidFill>
        <a:latin typeface="+mn-lt"/>
        <a:ea typeface="+mn-ea"/>
        <a:cs typeface="+mn-cs"/>
      </a:defRPr>
    </a:lvl3pPr>
    <a:lvl4pPr marL="4081882" algn="l" defTabSz="2721254" rtl="0" eaLnBrk="1" latinLnBrk="0" hangingPunct="1">
      <a:defRPr sz="3571" kern="1200">
        <a:solidFill>
          <a:schemeClr val="tx1"/>
        </a:solidFill>
        <a:latin typeface="+mn-lt"/>
        <a:ea typeface="+mn-ea"/>
        <a:cs typeface="+mn-cs"/>
      </a:defRPr>
    </a:lvl4pPr>
    <a:lvl5pPr marL="5442509" algn="l" defTabSz="2721254" rtl="0" eaLnBrk="1" latinLnBrk="0" hangingPunct="1">
      <a:defRPr sz="3571" kern="1200">
        <a:solidFill>
          <a:schemeClr val="tx1"/>
        </a:solidFill>
        <a:latin typeface="+mn-lt"/>
        <a:ea typeface="+mn-ea"/>
        <a:cs typeface="+mn-cs"/>
      </a:defRPr>
    </a:lvl5pPr>
    <a:lvl6pPr marL="6803136" algn="l" defTabSz="2721254" rtl="0" eaLnBrk="1" latinLnBrk="0" hangingPunct="1">
      <a:defRPr sz="3571" kern="1200">
        <a:solidFill>
          <a:schemeClr val="tx1"/>
        </a:solidFill>
        <a:latin typeface="+mn-lt"/>
        <a:ea typeface="+mn-ea"/>
        <a:cs typeface="+mn-cs"/>
      </a:defRPr>
    </a:lvl6pPr>
    <a:lvl7pPr marL="8163763" algn="l" defTabSz="2721254" rtl="0" eaLnBrk="1" latinLnBrk="0" hangingPunct="1">
      <a:defRPr sz="3571" kern="1200">
        <a:solidFill>
          <a:schemeClr val="tx1"/>
        </a:solidFill>
        <a:latin typeface="+mn-lt"/>
        <a:ea typeface="+mn-ea"/>
        <a:cs typeface="+mn-cs"/>
      </a:defRPr>
    </a:lvl7pPr>
    <a:lvl8pPr marL="9524390" algn="l" defTabSz="2721254" rtl="0" eaLnBrk="1" latinLnBrk="0" hangingPunct="1">
      <a:defRPr sz="3571" kern="1200">
        <a:solidFill>
          <a:schemeClr val="tx1"/>
        </a:solidFill>
        <a:latin typeface="+mn-lt"/>
        <a:ea typeface="+mn-ea"/>
        <a:cs typeface="+mn-cs"/>
      </a:defRPr>
    </a:lvl8pPr>
    <a:lvl9pPr marL="10885018" algn="l" defTabSz="2721254" rtl="0" eaLnBrk="1" latinLnBrk="0" hangingPunct="1">
      <a:defRPr sz="357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92DF51-FB9A-49E4-9C6C-66F6AFF45027}"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147817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92DF51-FB9A-49E4-9C6C-66F6AFF45027}"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2815062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92DF51-FB9A-49E4-9C6C-66F6AFF45027}"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3716478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92DF51-FB9A-49E4-9C6C-66F6AFF45027}"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118616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92DF51-FB9A-49E4-9C6C-66F6AFF45027}" type="datetimeFigureOut">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189641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92DF51-FB9A-49E4-9C6C-66F6AFF45027}" type="datetimeFigureOut">
              <a:rPr lang="en-US" smtClean="0"/>
              <a:t>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2646360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92DF51-FB9A-49E4-9C6C-66F6AFF45027}" type="datetimeFigureOut">
              <a:rPr lang="en-US" smtClean="0"/>
              <a:t>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142986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D292DF51-FB9A-49E4-9C6C-66F6AFF45027}"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248651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D292DF51-FB9A-49E4-9C6C-66F6AFF45027}" type="datetimeFigureOut">
              <a:rPr lang="en-US" smtClean="0"/>
              <a:t>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28523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92DF51-FB9A-49E4-9C6C-66F6AFF45027}"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3296256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92DF51-FB9A-49E4-9C6C-66F6AFF45027}" type="datetimeFigureOut">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3E49D-DE8D-4DB8-AA95-526A5D95CA23}" type="slidenum">
              <a:rPr lang="en-US" smtClean="0"/>
              <a:t>‹#›</a:t>
            </a:fld>
            <a:endParaRPr lang="en-US"/>
          </a:p>
        </p:txBody>
      </p:sp>
    </p:spTree>
    <p:extLst>
      <p:ext uri="{BB962C8B-B14F-4D97-AF65-F5344CB8AC3E}">
        <p14:creationId xmlns:p14="http://schemas.microsoft.com/office/powerpoint/2010/main" val="339641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D292DF51-FB9A-49E4-9C6C-66F6AFF45027}" type="datetimeFigureOut">
              <a:rPr lang="en-US" smtClean="0"/>
              <a:t>2/28/2024</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1D03E49D-DE8D-4DB8-AA95-526A5D95CA23}" type="slidenum">
              <a:rPr lang="en-US" smtClean="0"/>
              <a:t>‹#›</a:t>
            </a:fld>
            <a:endParaRPr lang="en-US"/>
          </a:p>
        </p:txBody>
      </p:sp>
    </p:spTree>
    <p:extLst>
      <p:ext uri="{BB962C8B-B14F-4D97-AF65-F5344CB8AC3E}">
        <p14:creationId xmlns:p14="http://schemas.microsoft.com/office/powerpoint/2010/main" val="41510648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jpg"/><Relationship Id="rId3" Type="http://schemas.openxmlformats.org/officeDocument/2006/relationships/image" Target="../media/image2.jpeg"/><Relationship Id="rId7" Type="http://schemas.openxmlformats.org/officeDocument/2006/relationships/hyperlink" Target="mailto:dbarreiro@interbayamon.edu" TargetMode="External"/><Relationship Id="rId12" Type="http://schemas.openxmlformats.org/officeDocument/2006/relationships/image" Target="../media/image7.jpg"/><Relationship Id="rId17" Type="http://schemas.openxmlformats.org/officeDocument/2006/relationships/image" Target="../media/image12.png"/><Relationship Id="rId2" Type="http://schemas.openxmlformats.org/officeDocument/2006/relationships/image" Target="../media/image1.jpeg"/><Relationship Id="rId16"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hyperlink" Target="mailto:emgonzalezco@itec.pr" TargetMode="External"/><Relationship Id="rId11" Type="http://schemas.openxmlformats.org/officeDocument/2006/relationships/image" Target="../media/image6.jpg"/><Relationship Id="rId5" Type="http://schemas.openxmlformats.org/officeDocument/2006/relationships/hyperlink" Target="http://www.estadisticas.gobierno.pr/iepr/LinkClick.aspx?fileticket=M53Ieo1-ots%3d&amp;tabid=186" TargetMode="External"/><Relationship Id="rId15" Type="http://schemas.openxmlformats.org/officeDocument/2006/relationships/image" Target="../media/image10.png"/><Relationship Id="rId10" Type="http://schemas.openxmlformats.org/officeDocument/2006/relationships/image" Target="../media/image5.png"/><Relationship Id="rId4" Type="http://schemas.openxmlformats.org/officeDocument/2006/relationships/hyperlink" Target="https://es.weatherspark.com/y/150269/Clima-promedio-en-Puerto-Rico-durante-todo-el-a%C3%B1o" TargetMode="External"/><Relationship Id="rId9" Type="http://schemas.openxmlformats.org/officeDocument/2006/relationships/image" Target="../media/image4.png"/><Relationship Id="rId1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66FA949-3791-E3CA-2031-10845C8B0C8E}"/>
              </a:ext>
            </a:extLst>
          </p:cNvPr>
          <p:cNvSpPr>
            <a:spLocks noGrp="1" noRot="1" noMove="1" noResize="1" noEditPoints="1" noAdjustHandles="1" noChangeArrowheads="1" noChangeShapeType="1"/>
          </p:cNvSpPr>
          <p:nvPr>
            <p:ph idx="1"/>
          </p:nvPr>
        </p:nvSpPr>
        <p:spPr>
          <a:xfrm>
            <a:off x="808454" y="3679371"/>
            <a:ext cx="6323116" cy="28506056"/>
          </a:xfrm>
          <a:custGeom>
            <a:avLst/>
            <a:gdLst>
              <a:gd name="connsiteX0" fmla="*/ 0 w 6323116"/>
              <a:gd name="connsiteY0" fmla="*/ 0 h 28506056"/>
              <a:gd name="connsiteX1" fmla="*/ 6323116 w 6323116"/>
              <a:gd name="connsiteY1" fmla="*/ 0 h 28506056"/>
              <a:gd name="connsiteX2" fmla="*/ 6323116 w 6323116"/>
              <a:gd name="connsiteY2" fmla="*/ 28506056 h 28506056"/>
              <a:gd name="connsiteX3" fmla="*/ 0 w 6323116"/>
              <a:gd name="connsiteY3" fmla="*/ 28506056 h 28506056"/>
              <a:gd name="connsiteX4" fmla="*/ 0 w 6323116"/>
              <a:gd name="connsiteY4" fmla="*/ 0 h 28506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3116" h="28506056" fill="none" extrusionOk="0">
                <a:moveTo>
                  <a:pt x="0" y="0"/>
                </a:moveTo>
                <a:cubicBezTo>
                  <a:pt x="2727277" y="-49533"/>
                  <a:pt x="3216799" y="-14809"/>
                  <a:pt x="6323116" y="0"/>
                </a:cubicBezTo>
                <a:cubicBezTo>
                  <a:pt x="6410755" y="8658197"/>
                  <a:pt x="6250437" y="17923821"/>
                  <a:pt x="6323116" y="28506056"/>
                </a:cubicBezTo>
                <a:cubicBezTo>
                  <a:pt x="4072323" y="28457825"/>
                  <a:pt x="899776" y="28590511"/>
                  <a:pt x="0" y="28506056"/>
                </a:cubicBezTo>
                <a:cubicBezTo>
                  <a:pt x="-38581" y="23311722"/>
                  <a:pt x="63341" y="4715453"/>
                  <a:pt x="0" y="0"/>
                </a:cubicBezTo>
                <a:close/>
              </a:path>
              <a:path w="6323116" h="28506056" stroke="0" extrusionOk="0">
                <a:moveTo>
                  <a:pt x="0" y="0"/>
                </a:moveTo>
                <a:cubicBezTo>
                  <a:pt x="920294" y="118645"/>
                  <a:pt x="4950263" y="116012"/>
                  <a:pt x="6323116" y="0"/>
                </a:cubicBezTo>
                <a:cubicBezTo>
                  <a:pt x="6190234" y="12959460"/>
                  <a:pt x="6408067" y="22438019"/>
                  <a:pt x="6323116" y="28506056"/>
                </a:cubicBezTo>
                <a:cubicBezTo>
                  <a:pt x="3508882" y="28640656"/>
                  <a:pt x="2451148" y="28348860"/>
                  <a:pt x="0" y="28506056"/>
                </a:cubicBezTo>
                <a:cubicBezTo>
                  <a:pt x="-20187" y="15275374"/>
                  <a:pt x="-152480" y="11607917"/>
                  <a:pt x="0" y="0"/>
                </a:cubicBezTo>
                <a:close/>
              </a:path>
            </a:pathLst>
          </a:custGeom>
          <a:blipFill>
            <a:blip r:embed="rId3"/>
            <a:tile tx="0" ty="0" sx="100000" sy="100000" flip="none" algn="tl"/>
          </a:blipFill>
          <a:ln w="57150" cap="rnd" cmpd="dbl">
            <a:solidFill>
              <a:srgbClr val="0070C0"/>
            </a:solidFill>
            <a:extLst>
              <a:ext uri="{C807C97D-BFC1-408E-A445-0C87EB9F89A2}">
                <ask:lineSketchStyleProps xmlns:ask="http://schemas.microsoft.com/office/drawing/2018/sketchyshapes" sd="1219033472">
                  <ask:type>
                    <ask:lineSketchCurved/>
                  </ask:type>
                </ask:lineSketchStyleProps>
              </a:ext>
            </a:extLst>
          </a:ln>
        </p:spPr>
        <p:txBody>
          <a:bodyPr>
            <a:normAutofit/>
          </a:bodyPr>
          <a:lstStyle/>
          <a:p>
            <a:pPr marL="0" indent="0" algn="ctr">
              <a:buNone/>
            </a:pPr>
            <a:endParaRPr lang="en-US" sz="3200" b="1" dirty="0">
              <a:cs typeface="Times New Roman" panose="02020603050405020304" pitchFamily="18" charset="0"/>
            </a:endParaRPr>
          </a:p>
          <a:p>
            <a:pPr marL="0" indent="0" algn="ctr">
              <a:buNone/>
            </a:pPr>
            <a:r>
              <a:rPr lang="en-US" sz="3200" b="1" dirty="0">
                <a:cs typeface="Times New Roman" panose="02020603050405020304" pitchFamily="18" charset="0"/>
              </a:rPr>
              <a:t>Problem Statement</a:t>
            </a:r>
          </a:p>
          <a:p>
            <a:pPr marL="0" indent="0">
              <a:spcBef>
                <a:spcPts val="1705"/>
              </a:spcBef>
              <a:buNone/>
            </a:pPr>
            <a:r>
              <a:rPr lang="en-US" sz="2400" dirty="0">
                <a:ea typeface="Tahoma" panose="020B0604030504040204" pitchFamily="34" charset="0"/>
                <a:cs typeface="Tahoma" panose="020B0604030504040204" pitchFamily="34" charset="0"/>
              </a:rPr>
              <a:t>The devastation of Puerto Rico’ Maria period, underscores the importance of the resilience of this system. Using tools, such as Python and Excel, we have been able to quantify how catastrophic this s electrical grid during the hurricane event was and the current state of our electrical grid. </a:t>
            </a:r>
          </a:p>
          <a:p>
            <a:pPr marL="0" indent="0">
              <a:spcBef>
                <a:spcPts val="1705"/>
              </a:spcBef>
              <a:buNone/>
            </a:pPr>
            <a:endParaRPr lang="en-US" sz="1895" dirty="0">
              <a:ea typeface="Tahoma" panose="020B0604030504040204" pitchFamily="34" charset="0"/>
              <a:cs typeface="Tahoma" panose="020B0604030504040204" pitchFamily="34" charset="0"/>
            </a:endParaRPr>
          </a:p>
          <a:p>
            <a:pPr marL="0" indent="0">
              <a:spcBef>
                <a:spcPts val="1705"/>
              </a:spcBef>
              <a:buNone/>
            </a:pPr>
            <a:endParaRPr lang="en-US" sz="1895" dirty="0">
              <a:ea typeface="Tahoma" panose="020B0604030504040204" pitchFamily="34" charset="0"/>
              <a:cs typeface="Tahoma" panose="020B0604030504040204" pitchFamily="34" charset="0"/>
            </a:endParaRPr>
          </a:p>
          <a:p>
            <a:pPr marL="0" indent="0">
              <a:spcBef>
                <a:spcPts val="1705"/>
              </a:spcBef>
              <a:buNone/>
            </a:pPr>
            <a:endParaRPr lang="en-US" sz="1895" dirty="0">
              <a:ea typeface="Tahoma" panose="020B0604030504040204" pitchFamily="34" charset="0"/>
              <a:cs typeface="Tahoma" panose="020B0604030504040204" pitchFamily="34" charset="0"/>
            </a:endParaRPr>
          </a:p>
          <a:p>
            <a:pPr marL="0" indent="0">
              <a:spcBef>
                <a:spcPts val="1705"/>
              </a:spcBef>
              <a:buNone/>
            </a:pPr>
            <a:endParaRPr lang="en-US" sz="1895" dirty="0">
              <a:ea typeface="Tahoma" panose="020B0604030504040204" pitchFamily="34" charset="0"/>
              <a:cs typeface="Tahoma" panose="020B0604030504040204" pitchFamily="34" charset="0"/>
            </a:endParaRPr>
          </a:p>
          <a:p>
            <a:pPr marL="0" indent="0" algn="ctr">
              <a:spcBef>
                <a:spcPts val="0"/>
              </a:spcBef>
              <a:buNone/>
            </a:pPr>
            <a:endParaRPr lang="en-US" sz="1895" dirty="0">
              <a:ea typeface="Tahoma" panose="020B0604030504040204" pitchFamily="34" charset="0"/>
              <a:cs typeface="Tahoma" panose="020B0604030504040204" pitchFamily="34" charset="0"/>
            </a:endParaRPr>
          </a:p>
          <a:p>
            <a:pPr marL="0" indent="0" algn="ctr">
              <a:spcBef>
                <a:spcPts val="0"/>
              </a:spcBef>
              <a:buNone/>
            </a:pPr>
            <a:endParaRPr lang="en-US" sz="2000" b="1" dirty="0">
              <a:ea typeface="Tahoma" panose="020B0604030504040204" pitchFamily="34" charset="0"/>
              <a:cs typeface="Tahoma" panose="020B0604030504040204" pitchFamily="34" charset="0"/>
            </a:endParaRPr>
          </a:p>
          <a:p>
            <a:pPr marL="0" indent="0" algn="ctr">
              <a:spcBef>
                <a:spcPts val="0"/>
              </a:spcBef>
              <a:buNone/>
            </a:pPr>
            <a:r>
              <a:rPr lang="en-US" sz="2000" b="1" dirty="0">
                <a:ea typeface="Tahoma" panose="020B0604030504040204" pitchFamily="34" charset="0"/>
                <a:cs typeface="Tahoma" panose="020B0604030504040204" pitchFamily="34" charset="0"/>
              </a:rPr>
              <a:t>Figure 1: Electrical System Damage </a:t>
            </a:r>
            <a:endParaRPr lang="en-US" sz="1895" b="1" dirty="0">
              <a:ea typeface="Tahoma" panose="020B0604030504040204" pitchFamily="34" charset="0"/>
              <a:cs typeface="Tahoma" panose="020B0604030504040204" pitchFamily="34" charset="0"/>
            </a:endParaRPr>
          </a:p>
          <a:p>
            <a:pPr marL="0" indent="0" algn="just">
              <a:spcBef>
                <a:spcPts val="0"/>
              </a:spcBef>
              <a:buNone/>
            </a:pPr>
            <a:r>
              <a:rPr lang="en-US" sz="1800" dirty="0">
                <a:ea typeface="Tahoma" panose="020B0604030504040204" pitchFamily="34" charset="0"/>
                <a:cs typeface="Tahoma" panose="020B0604030504040204" pitchFamily="34" charset="0"/>
              </a:rPr>
              <a:t>U.S. Department of Defense Current Photos1st Sgt. Waldemar Rivera/Puerto Rico National Guard - 170921-A-ZM725-898, Public Domain.</a:t>
            </a:r>
          </a:p>
          <a:p>
            <a:pPr marL="0" indent="0" algn="ctr">
              <a:spcBef>
                <a:spcPts val="1705"/>
              </a:spcBef>
              <a:buNone/>
            </a:pPr>
            <a:endParaRPr lang="en-US" sz="3200" b="1" dirty="0">
              <a:ea typeface="Tahoma" panose="020B0604030504040204" pitchFamily="34" charset="0"/>
              <a:cs typeface="Tahoma" panose="020B0604030504040204" pitchFamily="34" charset="0"/>
            </a:endParaRPr>
          </a:p>
          <a:p>
            <a:pPr marL="0" indent="0" algn="ctr">
              <a:spcBef>
                <a:spcPts val="1705"/>
              </a:spcBef>
              <a:buNone/>
            </a:pPr>
            <a:r>
              <a:rPr lang="en-US" sz="3200" b="1" dirty="0">
                <a:ea typeface="Tahoma" panose="020B0604030504040204" pitchFamily="34" charset="0"/>
                <a:cs typeface="Tahoma" panose="020B0604030504040204" pitchFamily="34" charset="0"/>
              </a:rPr>
              <a:t>Dataset Analysis [1]</a:t>
            </a:r>
          </a:p>
          <a:p>
            <a:pPr marL="0" indent="0">
              <a:spcBef>
                <a:spcPts val="1705"/>
              </a:spcBef>
              <a:buNone/>
            </a:pPr>
            <a:r>
              <a:rPr lang="en-US" sz="2400" dirty="0">
                <a:ea typeface="Tahoma" panose="020B0604030504040204" pitchFamily="34" charset="0"/>
                <a:cs typeface="Tahoma" panose="020B0604030504040204" pitchFamily="34" charset="0"/>
              </a:rPr>
              <a:t>The team selected a dataset published monthly by AEE with 29 variables and n=258 datapoints (7/2011-8/2023).  Data for the selected variables in Table 1 was complete, organized and  visualized from 2012 to 2022.</a:t>
            </a:r>
          </a:p>
          <a:p>
            <a:pPr marL="0" indent="0">
              <a:spcBef>
                <a:spcPts val="1705"/>
              </a:spcBef>
              <a:buNone/>
            </a:pPr>
            <a:endParaRPr lang="en-US" sz="2400" dirty="0">
              <a:ea typeface="Tahoma" panose="020B0604030504040204" pitchFamily="34" charset="0"/>
              <a:cs typeface="Tahoma" panose="020B0604030504040204" pitchFamily="34" charset="0"/>
            </a:endParaRPr>
          </a:p>
          <a:p>
            <a:pPr marL="0" indent="0">
              <a:spcBef>
                <a:spcPts val="1705"/>
              </a:spcBef>
              <a:buNone/>
            </a:pPr>
            <a:endParaRPr lang="en-US" sz="2400" dirty="0">
              <a:ea typeface="Tahoma" panose="020B0604030504040204" pitchFamily="34" charset="0"/>
              <a:cs typeface="Tahoma" panose="020B0604030504040204" pitchFamily="34" charset="0"/>
            </a:endParaRPr>
          </a:p>
          <a:p>
            <a:pPr marL="0" indent="0">
              <a:spcBef>
                <a:spcPts val="1705"/>
              </a:spcBef>
              <a:buNone/>
            </a:pPr>
            <a:r>
              <a:rPr lang="en-US" sz="2400" dirty="0">
                <a:ea typeface="Tahoma" panose="020B0604030504040204" pitchFamily="34" charset="0"/>
                <a:cs typeface="Tahoma" panose="020B0604030504040204" pitchFamily="34" charset="0"/>
              </a:rPr>
              <a:t>  </a:t>
            </a:r>
          </a:p>
          <a:p>
            <a:pPr marL="0" indent="0">
              <a:spcBef>
                <a:spcPts val="1705"/>
              </a:spcBef>
              <a:buNone/>
            </a:pPr>
            <a:endParaRPr lang="en-US" sz="2400" dirty="0">
              <a:ea typeface="Tahoma" panose="020B0604030504040204" pitchFamily="34" charset="0"/>
              <a:cs typeface="Tahoma" panose="020B0604030504040204" pitchFamily="34" charset="0"/>
            </a:endParaRPr>
          </a:p>
          <a:p>
            <a:pPr marL="0" indent="0" algn="ctr">
              <a:spcBef>
                <a:spcPts val="1705"/>
              </a:spcBef>
              <a:buNone/>
            </a:pPr>
            <a:endParaRPr lang="en-US" sz="3200" b="1" dirty="0">
              <a:ea typeface="Tahoma" panose="020B0604030504040204" pitchFamily="34" charset="0"/>
              <a:cs typeface="Tahoma" panose="020B0604030504040204" pitchFamily="34" charset="0"/>
            </a:endParaRPr>
          </a:p>
          <a:p>
            <a:pPr marL="0" indent="0" algn="ctr">
              <a:spcBef>
                <a:spcPts val="1705"/>
              </a:spcBef>
              <a:buNone/>
            </a:pPr>
            <a:endParaRPr lang="en-US" sz="3200" b="1" dirty="0">
              <a:ea typeface="Tahoma" panose="020B0604030504040204" pitchFamily="34" charset="0"/>
              <a:cs typeface="Tahoma" panose="020B0604030504040204" pitchFamily="34" charset="0"/>
            </a:endParaRPr>
          </a:p>
          <a:p>
            <a:pPr marL="0" indent="0" algn="ctr">
              <a:spcBef>
                <a:spcPts val="1705"/>
              </a:spcBef>
              <a:buNone/>
            </a:pPr>
            <a:r>
              <a:rPr lang="en-US" sz="1895" dirty="0">
                <a:ea typeface="Tahoma" panose="020B0604030504040204" pitchFamily="34" charset="0"/>
                <a:cs typeface="Tahoma" panose="020B0604030504040204" pitchFamily="34" charset="0"/>
              </a:rPr>
              <a:t> </a:t>
            </a:r>
            <a:r>
              <a:rPr lang="en-US" sz="2000" b="1" dirty="0">
                <a:ea typeface="Tahoma" panose="020B0604030504040204" pitchFamily="34" charset="0"/>
                <a:cs typeface="Tahoma" panose="020B0604030504040204" pitchFamily="34" charset="0"/>
              </a:rPr>
              <a:t>Table 1: Variables studies monthly from 1/1/2012 to 12/1/2022 </a:t>
            </a:r>
          </a:p>
          <a:p>
            <a:pPr marL="0" indent="0" algn="ctr">
              <a:spcBef>
                <a:spcPts val="1705"/>
              </a:spcBef>
              <a:buNone/>
            </a:pPr>
            <a:endParaRPr lang="en-US" sz="1895" dirty="0">
              <a:ea typeface="Tahoma" panose="020B0604030504040204" pitchFamily="34" charset="0"/>
              <a:cs typeface="Tahoma" panose="020B0604030504040204" pitchFamily="34" charset="0"/>
            </a:endParaRPr>
          </a:p>
          <a:p>
            <a:pPr marL="0" indent="0" algn="ctr">
              <a:spcBef>
                <a:spcPts val="1705"/>
              </a:spcBef>
              <a:buNone/>
            </a:pPr>
            <a:r>
              <a:rPr lang="en-US" sz="1895" dirty="0">
                <a:ea typeface="Tahoma" panose="020B0604030504040204" pitchFamily="34" charset="0"/>
                <a:cs typeface="Tahoma" panose="020B0604030504040204" pitchFamily="34" charset="0"/>
              </a:rPr>
              <a:t> </a:t>
            </a:r>
            <a:r>
              <a:rPr lang="en-US" sz="2800" b="1" dirty="0">
                <a:ea typeface="Tahoma" panose="020B0604030504040204" pitchFamily="34" charset="0"/>
                <a:cs typeface="Tahoma" panose="020B0604030504040204" pitchFamily="34" charset="0"/>
              </a:rPr>
              <a:t> </a:t>
            </a:r>
            <a:r>
              <a:rPr lang="en-US" sz="3000" b="1" dirty="0">
                <a:ea typeface="Tahoma" panose="020B0604030504040204" pitchFamily="34" charset="0"/>
                <a:cs typeface="Tahoma" panose="020B0604030504040204" pitchFamily="34" charset="0"/>
              </a:rPr>
              <a:t>Excel Visualizations of Max Demand and Weather Data</a:t>
            </a:r>
          </a:p>
          <a:p>
            <a:pPr marL="0" indent="0" algn="ctr">
              <a:buNone/>
            </a:pPr>
            <a:endParaRPr lang="en-US" sz="1263" dirty="0">
              <a:ea typeface="Tahoma" panose="020B0604030504040204" pitchFamily="34" charset="0"/>
              <a:cs typeface="Tahoma" panose="020B0604030504040204" pitchFamily="34" charset="0"/>
            </a:endParaRPr>
          </a:p>
          <a:p>
            <a:pPr marL="0" indent="0" algn="ctr">
              <a:buNone/>
            </a:pPr>
            <a:endParaRPr lang="en-US" sz="2400" dirty="0">
              <a:solidFill>
                <a:srgbClr val="FF0000"/>
              </a:solidFill>
              <a:ea typeface="Tahoma" panose="020B0604030504040204" pitchFamily="34" charset="0"/>
              <a:cs typeface="Tahoma" panose="020B0604030504040204" pitchFamily="34"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a:p>
            <a:pPr marL="0" indent="0" algn="ctr">
              <a:buNone/>
            </a:pPr>
            <a:endParaRPr lang="en-US" sz="2800" b="1" dirty="0">
              <a:ea typeface="Tahoma" panose="020B0604030504040204" pitchFamily="34" charset="0"/>
              <a:cs typeface="Tahoma" panose="020B0604030504040204" pitchFamily="34" charset="0"/>
            </a:endParaRPr>
          </a:p>
          <a:p>
            <a:pPr marL="0" indent="0" algn="ctr">
              <a:buNone/>
            </a:pPr>
            <a:r>
              <a:rPr lang="en-US" sz="2800" b="1" dirty="0">
                <a:ea typeface="Tahoma" panose="020B0604030504040204" pitchFamily="34" charset="0"/>
                <a:cs typeface="Tahoma" panose="020B0604030504040204" pitchFamily="34" charset="0"/>
              </a:rPr>
              <a:t>Figure 2: Monthly Maximum Demand  from Years 2015-2019</a:t>
            </a:r>
          </a:p>
          <a:p>
            <a:pPr marL="0" indent="0">
              <a:buNone/>
            </a:pPr>
            <a:endParaRPr lang="en-US" sz="3200" dirty="0">
              <a:ea typeface="Tahoma" panose="020B0604030504040204" pitchFamily="34" charset="0"/>
              <a:cs typeface="Tahoma" panose="020B0604030504040204" pitchFamily="34" charset="0"/>
            </a:endParaRPr>
          </a:p>
          <a:p>
            <a:pPr marL="0" indent="0">
              <a:buNone/>
            </a:pPr>
            <a:r>
              <a:rPr lang="en-US" sz="3200" dirty="0">
                <a:ea typeface="Tahoma" panose="020B0604030504040204" pitchFamily="34" charset="0"/>
                <a:cs typeface="Tahoma" panose="020B0604030504040204" pitchFamily="34" charset="0"/>
              </a:rPr>
              <a:t>Climate data was also obtained and compared to the Maximum Demand  data to better understand the patterns.</a:t>
            </a:r>
            <a:endParaRPr lang="en-US" sz="3200" b="1" dirty="0">
              <a:ea typeface="Tahoma" panose="020B0604030504040204" pitchFamily="34" charset="0"/>
              <a:cs typeface="Tahoma" panose="020B0604030504040204" pitchFamily="34" charset="0"/>
            </a:endParaRPr>
          </a:p>
          <a:p>
            <a:pPr marL="0" indent="0" algn="ctr">
              <a:buNone/>
            </a:pPr>
            <a:endParaRPr lang="en-US" sz="3158" b="1" dirty="0">
              <a:latin typeface="Times New Roman" panose="02020603050405020304" pitchFamily="18" charset="0"/>
              <a:cs typeface="Times New Roman" panose="02020603050405020304" pitchFamily="18" charset="0"/>
            </a:endParaRPr>
          </a:p>
        </p:txBody>
      </p:sp>
      <p:sp>
        <p:nvSpPr>
          <p:cNvPr id="8" name="Content Placeholder 4">
            <a:extLst>
              <a:ext uri="{FF2B5EF4-FFF2-40B4-BE49-F238E27FC236}">
                <a16:creationId xmlns:a16="http://schemas.microsoft.com/office/drawing/2014/main" id="{A10CA434-CE44-1B06-6D34-F3E3FA9E1D4E}"/>
              </a:ext>
            </a:extLst>
          </p:cNvPr>
          <p:cNvSpPr txBox="1">
            <a:spLocks/>
          </p:cNvSpPr>
          <p:nvPr/>
        </p:nvSpPr>
        <p:spPr>
          <a:xfrm>
            <a:off x="7300109" y="3679371"/>
            <a:ext cx="7513923" cy="28473396"/>
          </a:xfrm>
          <a:prstGeom prst="rect">
            <a:avLst/>
          </a:prstGeom>
          <a:blipFill>
            <a:blip r:embed="rId3"/>
            <a:tile tx="0" ty="0" sx="100000" sy="100000" flip="none" algn="tl"/>
          </a:blipFill>
          <a:ln w="57150">
            <a:solidFill>
              <a:srgbClr val="0070C0"/>
            </a:solidFill>
          </a:ln>
        </p:spPr>
        <p:txBody>
          <a:bodyPr vert="horz" lIns="57752" tIns="28876" rIns="57752" bIns="28876" rtlCol="0">
            <a:normAutofit/>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buNone/>
            </a:pPr>
            <a:endParaRPr lang="en-US" sz="3600" dirty="0">
              <a:ea typeface="Tahoma" panose="020B0604030504040204" pitchFamily="34" charset="0"/>
              <a:cs typeface="Tahoma" panose="020B0604030504040204" pitchFamily="34" charset="0"/>
            </a:endParaRPr>
          </a:p>
          <a:p>
            <a:pPr marL="0" indent="0">
              <a:buNone/>
            </a:pPr>
            <a:r>
              <a:rPr lang="en-US" sz="2800" dirty="0">
                <a:ea typeface="Tahoma" panose="020B0604030504040204" pitchFamily="34" charset="0"/>
                <a:cs typeface="Tahoma" panose="020B0604030504040204" pitchFamily="34" charset="0"/>
              </a:rPr>
              <a:t>The following visualizations show seasonality of Maximum Demand. </a:t>
            </a:r>
          </a:p>
          <a:p>
            <a:pPr marL="0" indent="0" algn="ctr">
              <a:buNone/>
            </a:pPr>
            <a:endParaRPr lang="en-US" sz="3600" b="1" dirty="0">
              <a:ea typeface="Tahoma" panose="020B0604030504040204" pitchFamily="34" charset="0"/>
              <a:cs typeface="Tahoma" panose="020B0604030504040204" pitchFamily="34" charset="0"/>
            </a:endParaRPr>
          </a:p>
          <a:p>
            <a:pPr marL="0" indent="0" algn="ctr">
              <a:buNone/>
            </a:pPr>
            <a:endParaRPr lang="en-US" sz="3600" b="1" dirty="0">
              <a:ea typeface="Tahoma" panose="020B0604030504040204" pitchFamily="34" charset="0"/>
              <a:cs typeface="Tahoma" panose="020B0604030504040204" pitchFamily="34" charset="0"/>
            </a:endParaRPr>
          </a:p>
          <a:p>
            <a:pPr marL="0" indent="0" algn="ctr">
              <a:buNone/>
            </a:pPr>
            <a:endParaRPr lang="en-US" sz="3600" b="1" dirty="0">
              <a:ea typeface="Tahoma" panose="020B0604030504040204" pitchFamily="34" charset="0"/>
              <a:cs typeface="Tahoma" panose="020B0604030504040204" pitchFamily="34" charset="0"/>
            </a:endParaRPr>
          </a:p>
          <a:p>
            <a:pPr marL="0" indent="0" algn="ctr">
              <a:buNone/>
            </a:pPr>
            <a:endParaRPr lang="en-US" sz="1600" dirty="0">
              <a:ea typeface="Tahoma" panose="020B0604030504040204" pitchFamily="34" charset="0"/>
              <a:cs typeface="Tahoma" panose="020B0604030504040204" pitchFamily="34" charset="0"/>
            </a:endParaRPr>
          </a:p>
          <a:p>
            <a:pPr marL="0" indent="0" algn="ctr">
              <a:buNone/>
            </a:pPr>
            <a:r>
              <a:rPr lang="en-US" sz="2800" b="1" dirty="0">
                <a:ea typeface="Tahoma" panose="020B0604030504040204" pitchFamily="34" charset="0"/>
                <a:cs typeface="Tahoma" panose="020B0604030504040204" pitchFamily="34" charset="0"/>
              </a:rPr>
              <a:t>Figure 3: Seasonality of Maximum Demand  from Years 2013-2016</a:t>
            </a:r>
            <a:r>
              <a:rPr lang="en-US" sz="3200" dirty="0">
                <a:ea typeface="Tahoma" panose="020B0604030504040204" pitchFamily="34" charset="0"/>
                <a:cs typeface="Tahoma" panose="020B0604030504040204" pitchFamily="34" charset="0"/>
              </a:rPr>
              <a:t>, &amp; 2019-2022 </a:t>
            </a:r>
          </a:p>
          <a:p>
            <a:pPr marL="0" indent="0" algn="ctr">
              <a:buNone/>
            </a:pPr>
            <a:endParaRPr lang="en-US" sz="2800" dirty="0">
              <a:solidFill>
                <a:srgbClr val="FF0000"/>
              </a:solidFill>
              <a:ea typeface="Tahoma" panose="020B0604030504040204" pitchFamily="34" charset="0"/>
              <a:cs typeface="Tahoma" panose="020B0604030504040204" pitchFamily="34" charset="0"/>
            </a:endParaRPr>
          </a:p>
          <a:p>
            <a:pPr marL="0" indent="0" algn="ctr">
              <a:buNone/>
            </a:pPr>
            <a:endParaRPr lang="en-US" sz="3600" b="1" dirty="0">
              <a:latin typeface="Times New Roman" panose="02020603050405020304" pitchFamily="18" charset="0"/>
              <a:cs typeface="Times New Roman" panose="02020603050405020304" pitchFamily="18" charset="0"/>
            </a:endParaRPr>
          </a:p>
          <a:p>
            <a:pPr marL="0" indent="0" algn="ctr">
              <a:buNone/>
            </a:pPr>
            <a:endParaRPr lang="en-US" sz="3600" b="1" dirty="0">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kumimoji="0" lang="en-US" sz="3200" b="0" i="0" u="none" strike="noStrike" kern="1200" cap="none" spc="0" normalizeH="0" baseline="0" noProof="0" dirty="0">
              <a:ln>
                <a:noFill/>
              </a:ln>
              <a:effectLst/>
              <a:uLnTx/>
              <a:uFillTx/>
              <a:latin typeface="Calibri" panose="020F0502020204030204"/>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effectLst/>
                <a:uLnTx/>
                <a:uFillTx/>
                <a:latin typeface="Calibri" panose="020F0502020204030204"/>
                <a:ea typeface="Tahoma" panose="020B0604030504040204" pitchFamily="34" charset="0"/>
                <a:cs typeface="Tahoma" panose="020B0604030504040204" pitchFamily="34" charset="0"/>
              </a:rPr>
              <a:t>Figure 4:  Seasonality of  </a:t>
            </a:r>
            <a:r>
              <a:rPr lang="en-US" sz="2800" b="1" dirty="0">
                <a:latin typeface="Calibri" panose="020F0502020204030204"/>
                <a:ea typeface="Tahoma" panose="020B0604030504040204" pitchFamily="34" charset="0"/>
                <a:cs typeface="Tahoma" panose="020B0604030504040204" pitchFamily="34" charset="0"/>
              </a:rPr>
              <a:t>Peak Temperature </a:t>
            </a:r>
            <a:r>
              <a:rPr kumimoji="0" lang="en-US" sz="2800" b="1" i="0" u="none" strike="noStrike" kern="1200" cap="none" spc="0" normalizeH="0" baseline="0" noProof="0" dirty="0">
                <a:ln>
                  <a:noFill/>
                </a:ln>
                <a:effectLst/>
                <a:uLnTx/>
                <a:uFillTx/>
                <a:latin typeface="Calibri" panose="020F0502020204030204"/>
                <a:ea typeface="Tahoma" panose="020B0604030504040204" pitchFamily="34" charset="0"/>
                <a:cs typeface="Tahoma" panose="020B0604030504040204" pitchFamily="34" charset="0"/>
              </a:rPr>
              <a:t>Weather Data of </a:t>
            </a:r>
            <a:r>
              <a:rPr lang="en-US" sz="2800" b="1" dirty="0">
                <a:latin typeface="Calibri" panose="020F0502020204030204"/>
                <a:ea typeface="Tahoma" panose="020B0604030504040204" pitchFamily="34" charset="0"/>
                <a:cs typeface="Tahoma" panose="020B0604030504040204" pitchFamily="34" charset="0"/>
              </a:rPr>
              <a:t>PR</a:t>
            </a:r>
            <a:r>
              <a:rPr kumimoji="0" lang="en-US" sz="2800" b="1" i="0" u="none" strike="noStrike" kern="1200" cap="none" spc="0" normalizeH="0" baseline="0" noProof="0" dirty="0">
                <a:ln>
                  <a:noFill/>
                </a:ln>
                <a:effectLst/>
                <a:uLnTx/>
                <a:uFillTx/>
                <a:latin typeface="Calibri" panose="020F0502020204030204"/>
                <a:ea typeface="Tahoma" panose="020B0604030504040204" pitchFamily="34" charset="0"/>
                <a:cs typeface="Tahoma" panose="020B0604030504040204" pitchFamily="34" charset="0"/>
              </a:rPr>
              <a:t> for Years 2013-2016,  2019-2022</a:t>
            </a: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latin typeface="Calibri" panose="020F0502020204030204"/>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r>
              <a:rPr lang="en-US" sz="3000" b="1" dirty="0">
                <a:ea typeface="Tahoma" panose="020B0604030504040204" pitchFamily="34" charset="0"/>
                <a:cs typeface="Tahoma" panose="020B0604030504040204" pitchFamily="34" charset="0"/>
              </a:rPr>
              <a:t>Python Visualizations of Gross Generation Data </a:t>
            </a:r>
          </a:p>
          <a:p>
            <a:pPr marL="0" marR="0" lvl="0" indent="0"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r>
              <a:rPr lang="en-US" sz="2400" dirty="0">
                <a:ea typeface="Tahoma" panose="020B0604030504040204" pitchFamily="34" charset="0"/>
                <a:cs typeface="Tahoma" panose="020B0604030504040204" pitchFamily="34" charset="0"/>
              </a:rPr>
              <a:t>The Gross Generation data was analyzed using Python in Visual Studio Code, using libraries such as  </a:t>
            </a:r>
            <a:r>
              <a:rPr lang="en-US" sz="2400" i="1" dirty="0">
                <a:ea typeface="Tahoma" panose="020B0604030504040204" pitchFamily="34" charset="0"/>
                <a:cs typeface="Tahoma" panose="020B0604030504040204" pitchFamily="34" charset="0"/>
              </a:rPr>
              <a:t>panda </a:t>
            </a:r>
            <a:r>
              <a:rPr lang="en-US" sz="2400" dirty="0">
                <a:ea typeface="Tahoma" panose="020B0604030504040204" pitchFamily="34" charset="0"/>
                <a:cs typeface="Tahoma" panose="020B0604030504040204" pitchFamily="34" charset="0"/>
              </a:rPr>
              <a:t>(</a:t>
            </a:r>
            <a:r>
              <a:rPr lang="en-US" sz="2400" i="1" dirty="0">
                <a:ea typeface="Tahoma" panose="020B0604030504040204" pitchFamily="34" charset="0"/>
                <a:cs typeface="Tahoma" panose="020B0604030504040204" pitchFamily="34" charset="0"/>
              </a:rPr>
              <a:t>Data Frames</a:t>
            </a:r>
            <a:r>
              <a:rPr lang="en-US" sz="2400" dirty="0">
                <a:ea typeface="Tahoma" panose="020B0604030504040204" pitchFamily="34" charset="0"/>
                <a:cs typeface="Tahoma" panose="020B0604030504040204" pitchFamily="34" charset="0"/>
              </a:rPr>
              <a:t>), </a:t>
            </a:r>
            <a:r>
              <a:rPr lang="en-US" sz="2400" i="1" dirty="0">
                <a:ea typeface="Tahoma" panose="020B0604030504040204" pitchFamily="34" charset="0"/>
                <a:cs typeface="Tahoma" panose="020B0604030504040204" pitchFamily="34" charset="0"/>
              </a:rPr>
              <a:t> </a:t>
            </a:r>
            <a:r>
              <a:rPr lang="en-US" sz="2400" i="1" dirty="0" err="1">
                <a:ea typeface="Tahoma" panose="020B0604030504040204" pitchFamily="34" charset="0"/>
                <a:cs typeface="Tahoma" panose="020B0604030504040204" pitchFamily="34" charset="0"/>
              </a:rPr>
              <a:t>scipy.stat</a:t>
            </a:r>
            <a:r>
              <a:rPr lang="en-US" sz="2400" i="1" dirty="0">
                <a:ea typeface="Tahoma" panose="020B0604030504040204" pitchFamily="34" charset="0"/>
                <a:cs typeface="Tahoma" panose="020B0604030504040204" pitchFamily="34" charset="0"/>
              </a:rPr>
              <a:t> </a:t>
            </a:r>
            <a:r>
              <a:rPr lang="en-US" sz="2400" dirty="0">
                <a:ea typeface="Tahoma" panose="020B0604030504040204" pitchFamily="34" charset="0"/>
                <a:cs typeface="Tahoma" panose="020B0604030504040204" pitchFamily="34" charset="0"/>
              </a:rPr>
              <a:t>(</a:t>
            </a:r>
            <a:r>
              <a:rPr lang="en-US" sz="2400" i="1" dirty="0">
                <a:ea typeface="Tahoma" panose="020B0604030504040204" pitchFamily="34" charset="0"/>
                <a:cs typeface="Tahoma" panose="020B0604030504040204" pitchFamily="34" charset="0"/>
              </a:rPr>
              <a:t>Statistics)  </a:t>
            </a:r>
            <a:r>
              <a:rPr lang="en-US" sz="2400" dirty="0">
                <a:ea typeface="Tahoma" panose="020B0604030504040204" pitchFamily="34" charset="0"/>
                <a:cs typeface="Tahoma" panose="020B0604030504040204" pitchFamily="34" charset="0"/>
              </a:rPr>
              <a:t>and </a:t>
            </a:r>
            <a:r>
              <a:rPr lang="en-US" sz="2400" i="1" dirty="0">
                <a:ea typeface="Tahoma" panose="020B0604030504040204" pitchFamily="34" charset="0"/>
                <a:cs typeface="Tahoma" panose="020B0604030504040204" pitchFamily="34" charset="0"/>
              </a:rPr>
              <a:t>matplotlib </a:t>
            </a:r>
            <a:r>
              <a:rPr lang="en-US" sz="2400" dirty="0">
                <a:ea typeface="Tahoma" panose="020B0604030504040204" pitchFamily="34" charset="0"/>
                <a:cs typeface="Tahoma" panose="020B0604030504040204" pitchFamily="34" charset="0"/>
              </a:rPr>
              <a:t>(visualizations).</a:t>
            </a:r>
            <a:endParaRPr lang="en-US" sz="2400" i="1" dirty="0">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3000" b="1" dirty="0">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3000" b="1" dirty="0">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3000" b="1" dirty="0">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3000" b="1" dirty="0">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400" b="1" dirty="0">
              <a:solidFill>
                <a:srgbClr val="FF0000"/>
              </a:solidFill>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400" b="1" dirty="0">
              <a:solidFill>
                <a:srgbClr val="FF0000"/>
              </a:solidFill>
              <a:ea typeface="Tahoma" panose="020B0604030504040204" pitchFamily="34" charset="0"/>
              <a:cs typeface="Tahoma" panose="020B0604030504040204" pitchFamily="34"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r>
              <a:rPr lang="en-US" sz="2400" b="1" dirty="0">
                <a:solidFill>
                  <a:srgbClr val="FF0000"/>
                </a:solidFill>
                <a:ea typeface="Tahoma" panose="020B0604030504040204" pitchFamily="34" charset="0"/>
                <a:cs typeface="Tahoma" panose="020B0604030504040204" pitchFamily="34" charset="0"/>
              </a:rPr>
              <a:t>Figure 5:   Code snippet of library imports and date formatting in Python</a:t>
            </a:r>
            <a:endParaRPr lang="en-US" sz="24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indent="0" algn="ctr" defTabSz="2194560">
              <a:spcBef>
                <a:spcPts val="2400"/>
              </a:spcBef>
              <a:buNone/>
              <a:defRPr/>
            </a:pPr>
            <a:endParaRPr lang="en-US" sz="2400" b="1" dirty="0">
              <a:solidFill>
                <a:srgbClr val="FF0000"/>
              </a:solidFill>
              <a:ea typeface="Tahoma" panose="020B0604030504040204" pitchFamily="34" charset="0"/>
              <a:cs typeface="Tahoma" panose="020B0604030504040204" pitchFamily="34" charset="0"/>
            </a:endParaRPr>
          </a:p>
          <a:p>
            <a:pPr marL="0" indent="0" algn="ctr" defTabSz="2194560">
              <a:spcBef>
                <a:spcPts val="2400"/>
              </a:spcBef>
              <a:buNone/>
              <a:defRPr/>
            </a:pPr>
            <a:endParaRPr lang="en-US" sz="2400" b="1" dirty="0">
              <a:solidFill>
                <a:srgbClr val="FF0000"/>
              </a:solidFill>
              <a:ea typeface="Tahoma" panose="020B0604030504040204" pitchFamily="34" charset="0"/>
              <a:cs typeface="Tahoma" panose="020B0604030504040204" pitchFamily="34" charset="0"/>
            </a:endParaRPr>
          </a:p>
          <a:p>
            <a:pPr marL="0" indent="0" algn="ctr" defTabSz="2194560">
              <a:spcBef>
                <a:spcPts val="2400"/>
              </a:spcBef>
              <a:buNone/>
              <a:defRPr/>
            </a:pPr>
            <a:endParaRPr lang="en-US" sz="2400" b="1" dirty="0">
              <a:solidFill>
                <a:srgbClr val="FF0000"/>
              </a:solidFill>
              <a:ea typeface="Tahoma" panose="020B0604030504040204" pitchFamily="34" charset="0"/>
              <a:cs typeface="Tahoma" panose="020B0604030504040204" pitchFamily="34" charset="0"/>
            </a:endParaRPr>
          </a:p>
          <a:p>
            <a:pPr marL="0" indent="0" algn="ctr" defTabSz="2194560">
              <a:spcBef>
                <a:spcPts val="2400"/>
              </a:spcBef>
              <a:buNone/>
              <a:defRPr/>
            </a:pPr>
            <a:endParaRPr lang="en-US" sz="2400" b="1">
              <a:solidFill>
                <a:srgbClr val="FF0000"/>
              </a:solidFill>
              <a:ea typeface="Tahoma" panose="020B0604030504040204" pitchFamily="34" charset="0"/>
              <a:cs typeface="Tahoma" panose="020B0604030504040204" pitchFamily="34" charset="0"/>
            </a:endParaRPr>
          </a:p>
          <a:p>
            <a:pPr marL="0" indent="0" algn="ctr" defTabSz="2194560">
              <a:spcBef>
                <a:spcPts val="2400"/>
              </a:spcBef>
              <a:buNone/>
              <a:defRPr/>
            </a:pPr>
            <a:r>
              <a:rPr lang="en-US" sz="2400" b="1">
                <a:solidFill>
                  <a:srgbClr val="FF0000"/>
                </a:solidFill>
                <a:ea typeface="Tahoma" panose="020B0604030504040204" pitchFamily="34" charset="0"/>
                <a:cs typeface="Tahoma" panose="020B0604030504040204" pitchFamily="34" charset="0"/>
              </a:rPr>
              <a:t>Figure </a:t>
            </a:r>
            <a:r>
              <a:rPr lang="en-US" sz="2400" b="1" dirty="0">
                <a:solidFill>
                  <a:srgbClr val="FF0000"/>
                </a:solidFill>
                <a:ea typeface="Tahoma" panose="020B0604030504040204" pitchFamily="34" charset="0"/>
                <a:cs typeface="Tahoma" panose="020B0604030504040204" pitchFamily="34" charset="0"/>
              </a:rPr>
              <a:t>6:   Gross Generation Data Visualization</a:t>
            </a:r>
            <a:endParaRPr lang="en-US" sz="24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solidFill>
                <a:srgbClr val="FF0000"/>
              </a:solidFill>
              <a:latin typeface="Times New Roman" panose="02020603050405020304" pitchFamily="18" charset="0"/>
              <a:cs typeface="Times New Roman" panose="02020603050405020304" pitchFamily="18" charset="0"/>
            </a:endParaRPr>
          </a:p>
          <a:p>
            <a:pPr marL="0" marR="0" lvl="0" indent="0" algn="ctr" defTabSz="2194560" rtl="0" eaLnBrk="1" fontAlgn="auto" latinLnBrk="0" hangingPunct="1">
              <a:lnSpc>
                <a:spcPct val="90000"/>
              </a:lnSpc>
              <a:spcBef>
                <a:spcPts val="2400"/>
              </a:spcBef>
              <a:spcAft>
                <a:spcPts val="0"/>
              </a:spcAft>
              <a:buClrTx/>
              <a:buSzTx/>
              <a:buFont typeface="Arial" panose="020B0604020202020204" pitchFamily="34" charset="0"/>
              <a:buNone/>
              <a:tabLst/>
              <a:defRPr/>
            </a:pPr>
            <a:endParaRPr lang="en-US" sz="2800" b="1" dirty="0">
              <a:latin typeface="Times New Roman" panose="02020603050405020304" pitchFamily="18" charset="0"/>
              <a:cs typeface="Times New Roman" panose="02020603050405020304" pitchFamily="18" charset="0"/>
            </a:endParaRPr>
          </a:p>
        </p:txBody>
      </p:sp>
      <p:sp>
        <p:nvSpPr>
          <p:cNvPr id="9" name="Content Placeholder 4">
            <a:extLst>
              <a:ext uri="{FF2B5EF4-FFF2-40B4-BE49-F238E27FC236}">
                <a16:creationId xmlns:a16="http://schemas.microsoft.com/office/drawing/2014/main" id="{AADF8EBE-2E89-E86B-DE02-12A540969098}"/>
              </a:ext>
            </a:extLst>
          </p:cNvPr>
          <p:cNvSpPr txBox="1">
            <a:spLocks/>
          </p:cNvSpPr>
          <p:nvPr/>
        </p:nvSpPr>
        <p:spPr>
          <a:xfrm>
            <a:off x="14980646" y="3679367"/>
            <a:ext cx="6156500" cy="28473397"/>
          </a:xfrm>
          <a:prstGeom prst="rect">
            <a:avLst/>
          </a:prstGeom>
          <a:blipFill>
            <a:blip r:embed="rId3"/>
            <a:tile tx="0" ty="0" sx="100000" sy="100000" flip="none" algn="tl"/>
          </a:blipFill>
          <a:ln w="57150">
            <a:solidFill>
              <a:srgbClr val="0070C0"/>
            </a:solidFill>
          </a:ln>
        </p:spPr>
        <p:txBody>
          <a:bodyPr vert="horz" lIns="57752" tIns="28876" rIns="57752" bIns="28876" rtlCol="0">
            <a:normAutofit/>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lgn="ctr">
              <a:spcBef>
                <a:spcPts val="2400"/>
              </a:spcBef>
              <a:buNone/>
            </a:pPr>
            <a:endParaRPr lang="en-US" sz="2800" b="1" dirty="0">
              <a:cs typeface="Times New Roman" panose="02020603050405020304" pitchFamily="18" charset="0"/>
            </a:endParaRPr>
          </a:p>
          <a:p>
            <a:pPr marL="0" indent="0" algn="ctr">
              <a:spcBef>
                <a:spcPts val="2400"/>
              </a:spcBef>
              <a:buNone/>
            </a:pPr>
            <a:r>
              <a:rPr lang="en-US" sz="3200" b="1" dirty="0">
                <a:cs typeface="Times New Roman" panose="02020603050405020304" pitchFamily="18" charset="0"/>
              </a:rPr>
              <a:t>Inference Statistics</a:t>
            </a:r>
          </a:p>
          <a:p>
            <a:pPr marL="0" indent="0">
              <a:spcBef>
                <a:spcPts val="2400"/>
              </a:spcBef>
              <a:buNone/>
            </a:pPr>
            <a:r>
              <a:rPr lang="en-US" sz="2400" dirty="0">
                <a:cs typeface="Times New Roman" panose="02020603050405020304" pitchFamily="18" charset="0"/>
              </a:rPr>
              <a:t>After visualization of variables </a:t>
            </a:r>
            <a:r>
              <a:rPr lang="en-US" sz="2400" dirty="0" err="1">
                <a:cs typeface="Times New Roman" panose="02020603050405020304" pitchFamily="18" charset="0"/>
              </a:rPr>
              <a:t>MaxD</a:t>
            </a:r>
            <a:r>
              <a:rPr lang="en-US" sz="2400" dirty="0">
                <a:cs typeface="Times New Roman" panose="02020603050405020304" pitchFamily="18" charset="0"/>
              </a:rPr>
              <a:t> and </a:t>
            </a:r>
            <a:r>
              <a:rPr lang="en-US" sz="2400" dirty="0" err="1">
                <a:cs typeface="Times New Roman" panose="02020603050405020304" pitchFamily="18" charset="0"/>
              </a:rPr>
              <a:t>GGen</a:t>
            </a:r>
            <a:r>
              <a:rPr lang="en-US" sz="2400" dirty="0">
                <a:cs typeface="Times New Roman" panose="02020603050405020304" pitchFamily="18" charset="0"/>
              </a:rPr>
              <a:t>, data was organized into two groups:  Pre-Maria (1/1/2011 to 12/1/2016) and Post-Maria (1/1/2019 to 12/1/2022).  </a:t>
            </a:r>
          </a:p>
          <a:p>
            <a:pPr marL="0" indent="0">
              <a:spcBef>
                <a:spcPts val="2400"/>
              </a:spcBef>
              <a:buNone/>
            </a:pPr>
            <a:r>
              <a:rPr lang="en-US" sz="2400" dirty="0">
                <a:cs typeface="Times New Roman" panose="02020603050405020304" pitchFamily="18" charset="0"/>
              </a:rPr>
              <a:t>Various date-formatting functions were needed in </a:t>
            </a:r>
            <a:r>
              <a:rPr lang="en-US" sz="2400" i="1" dirty="0">
                <a:cs typeface="Times New Roman" panose="02020603050405020304" pitchFamily="18" charset="0"/>
              </a:rPr>
              <a:t>Python </a:t>
            </a:r>
            <a:r>
              <a:rPr lang="en-US" sz="2400" dirty="0">
                <a:cs typeface="Times New Roman" panose="02020603050405020304" pitchFamily="18" charset="0"/>
              </a:rPr>
              <a:t>to separate data into pre-post Hurricane Maria groups and conduct a two-sample T-Test with Unequal variance for </a:t>
            </a:r>
            <a:r>
              <a:rPr lang="en-US" sz="2400" dirty="0" err="1">
                <a:cs typeface="Times New Roman" panose="02020603050405020304" pitchFamily="18" charset="0"/>
              </a:rPr>
              <a:t>MaxD</a:t>
            </a:r>
            <a:r>
              <a:rPr lang="en-US" sz="2400" dirty="0">
                <a:cs typeface="Times New Roman" panose="02020603050405020304" pitchFamily="18" charset="0"/>
              </a:rPr>
              <a:t> and Equal variance for </a:t>
            </a:r>
            <a:r>
              <a:rPr lang="en-US" sz="2400" dirty="0" err="1">
                <a:cs typeface="Times New Roman" panose="02020603050405020304" pitchFamily="18" charset="0"/>
              </a:rPr>
              <a:t>GGen</a:t>
            </a:r>
            <a:r>
              <a:rPr lang="en-US" sz="2400" dirty="0">
                <a:cs typeface="Times New Roman" panose="02020603050405020304" pitchFamily="18" charset="0"/>
              </a:rPr>
              <a:t> (according to F-Test) in Table 2.</a:t>
            </a:r>
          </a:p>
          <a:p>
            <a:pPr marL="0" indent="0">
              <a:spcBef>
                <a:spcPts val="2400"/>
              </a:spcBef>
              <a:buNone/>
            </a:pPr>
            <a:endParaRPr lang="en-US" sz="2400" b="1" dirty="0">
              <a:latin typeface="Calibri   "/>
              <a:cs typeface="Times New Roman" panose="02020603050405020304" pitchFamily="18" charset="0"/>
            </a:endParaRPr>
          </a:p>
          <a:p>
            <a:pPr marL="0" indent="0" algn="ctr">
              <a:buNone/>
            </a:pPr>
            <a:endParaRPr lang="en-US" sz="2400" b="1" dirty="0">
              <a:latin typeface="Calibri   "/>
              <a:cs typeface="Times New Roman" panose="02020603050405020304" pitchFamily="18" charset="0"/>
            </a:endParaRPr>
          </a:p>
          <a:p>
            <a:pPr marL="0" indent="0" algn="ctr">
              <a:buNone/>
            </a:pPr>
            <a:endParaRPr lang="en-US" sz="2400" b="1" dirty="0">
              <a:latin typeface="Calibri   "/>
              <a:cs typeface="Times New Roman" panose="02020603050405020304" pitchFamily="18" charset="0"/>
            </a:endParaRPr>
          </a:p>
          <a:p>
            <a:pPr marL="0" indent="0" algn="ctr">
              <a:buNone/>
            </a:pPr>
            <a:r>
              <a:rPr lang="en-US" sz="2400" b="1" dirty="0">
                <a:latin typeface="Calibri   "/>
                <a:cs typeface="Times New Roman" panose="02020603050405020304" pitchFamily="18" charset="0"/>
              </a:rPr>
              <a:t>()</a:t>
            </a:r>
          </a:p>
          <a:p>
            <a:pPr marL="0" indent="0" algn="ctr">
              <a:buNone/>
            </a:pPr>
            <a:endParaRPr lang="en-US" sz="2400" b="1" dirty="0">
              <a:latin typeface="Calibri   "/>
              <a:cs typeface="Times New Roman" panose="02020603050405020304" pitchFamily="18" charset="0"/>
            </a:endParaRPr>
          </a:p>
          <a:p>
            <a:pPr marL="0" indent="0" algn="ctr">
              <a:buNone/>
            </a:pPr>
            <a:r>
              <a:rPr lang="en-US" sz="2400" b="1" dirty="0">
                <a:latin typeface="Calibri   "/>
                <a:cs typeface="Times New Roman" panose="02020603050405020304" pitchFamily="18" charset="0"/>
              </a:rPr>
              <a:t>Table 2: One-tail T-Test results for </a:t>
            </a:r>
            <a:r>
              <a:rPr lang="en-US" sz="2400" b="1" dirty="0" err="1">
                <a:latin typeface="Calibri   "/>
                <a:cs typeface="Times New Roman" panose="02020603050405020304" pitchFamily="18" charset="0"/>
              </a:rPr>
              <a:t>MaxD</a:t>
            </a:r>
            <a:r>
              <a:rPr lang="en-US" sz="2400" b="1" dirty="0">
                <a:latin typeface="Calibri   "/>
                <a:cs typeface="Times New Roman" panose="02020603050405020304" pitchFamily="18" charset="0"/>
              </a:rPr>
              <a:t> and </a:t>
            </a:r>
            <a:r>
              <a:rPr lang="en-US" sz="2400" b="1" dirty="0" err="1">
                <a:latin typeface="Calibri   "/>
                <a:cs typeface="Times New Roman" panose="02020603050405020304" pitchFamily="18" charset="0"/>
              </a:rPr>
              <a:t>GGen</a:t>
            </a:r>
            <a:r>
              <a:rPr lang="en-US" sz="2400" b="1" dirty="0">
                <a:latin typeface="Calibri   "/>
                <a:cs typeface="Times New Roman" panose="02020603050405020304" pitchFamily="18" charset="0"/>
              </a:rPr>
              <a:t> variables</a:t>
            </a:r>
          </a:p>
          <a:p>
            <a:pPr marL="0" indent="0" algn="ctr">
              <a:buNone/>
            </a:pPr>
            <a:endParaRPr lang="en-US" sz="2400" b="1" dirty="0">
              <a:latin typeface="Calibri   "/>
              <a:cs typeface="Times New Roman" panose="02020603050405020304" pitchFamily="18" charset="0"/>
            </a:endParaRPr>
          </a:p>
          <a:p>
            <a:pPr marL="0" indent="0" algn="ctr">
              <a:buNone/>
            </a:pPr>
            <a:r>
              <a:rPr lang="en-US" sz="3200" b="1" dirty="0">
                <a:latin typeface="Calibri   "/>
                <a:cs typeface="Times New Roman" panose="02020603050405020304" pitchFamily="18" charset="0"/>
              </a:rPr>
              <a:t>CONCLUSIONS</a:t>
            </a:r>
          </a:p>
          <a:p>
            <a:pPr marL="0" indent="0">
              <a:buNone/>
            </a:pPr>
            <a:r>
              <a:rPr lang="en-US" sz="2400" dirty="0">
                <a:latin typeface="Calibri   "/>
                <a:cs typeface="Times New Roman" panose="02020603050405020304" pitchFamily="18" charset="0"/>
              </a:rPr>
              <a:t>We conclude that the Post-Maria </a:t>
            </a:r>
            <a:r>
              <a:rPr lang="en-US" sz="2400" dirty="0" err="1">
                <a:latin typeface="Calibri   "/>
                <a:cs typeface="Times New Roman" panose="02020603050405020304" pitchFamily="18" charset="0"/>
              </a:rPr>
              <a:t>MaxD</a:t>
            </a:r>
            <a:r>
              <a:rPr lang="en-US" sz="2400" dirty="0">
                <a:latin typeface="Calibri   "/>
                <a:cs typeface="Times New Roman" panose="02020603050405020304" pitchFamily="18" charset="0"/>
              </a:rPr>
              <a:t> and </a:t>
            </a:r>
            <a:r>
              <a:rPr lang="en-US" sz="2400" dirty="0" err="1">
                <a:latin typeface="Calibri   "/>
                <a:cs typeface="Times New Roman" panose="02020603050405020304" pitchFamily="18" charset="0"/>
              </a:rPr>
              <a:t>GGen</a:t>
            </a:r>
            <a:r>
              <a:rPr lang="en-US" sz="2400" dirty="0">
                <a:latin typeface="Calibri   "/>
                <a:cs typeface="Times New Roman" panose="02020603050405020304" pitchFamily="18" charset="0"/>
              </a:rPr>
              <a:t> variables means are statistically significantly smaller than its corresponding Pre-Maria values.  This suggests at least two scenarios:   </a:t>
            </a:r>
          </a:p>
          <a:p>
            <a:pPr>
              <a:spcBef>
                <a:spcPts val="1200"/>
              </a:spcBef>
            </a:pPr>
            <a:r>
              <a:rPr lang="en-US" sz="2400" dirty="0">
                <a:latin typeface="Calibri   "/>
                <a:cs typeface="Times New Roman" panose="02020603050405020304" pitchFamily="18" charset="0"/>
              </a:rPr>
              <a:t>our electrical gross generation has not recuperated from the damage produced by Hurricane Maria </a:t>
            </a:r>
          </a:p>
          <a:p>
            <a:pPr>
              <a:spcBef>
                <a:spcPts val="1200"/>
              </a:spcBef>
            </a:pPr>
            <a:r>
              <a:rPr lang="en-US" sz="2400" dirty="0">
                <a:latin typeface="Calibri   "/>
                <a:cs typeface="Times New Roman" panose="02020603050405020304" pitchFamily="18" charset="0"/>
              </a:rPr>
              <a:t>the maximum demand may be affected by clients unable to consume energy because of frequent blackouts </a:t>
            </a:r>
          </a:p>
          <a:p>
            <a:pPr>
              <a:spcBef>
                <a:spcPts val="1200"/>
              </a:spcBef>
            </a:pPr>
            <a:r>
              <a:rPr lang="en-US" sz="2400" dirty="0">
                <a:latin typeface="Calibri   "/>
                <a:cs typeface="Times New Roman" panose="02020603050405020304" pitchFamily="18" charset="0"/>
              </a:rPr>
              <a:t>some clients have the option to choose renewable energy options such as solar energy   </a:t>
            </a:r>
          </a:p>
          <a:p>
            <a:pPr marL="0" indent="0" algn="ctr">
              <a:buNone/>
            </a:pPr>
            <a:r>
              <a:rPr lang="en-US" sz="3200" b="1" dirty="0">
                <a:latin typeface="Calibri   "/>
                <a:cs typeface="Times New Roman" panose="02020603050405020304" pitchFamily="18" charset="0"/>
              </a:rPr>
              <a:t>Future Work</a:t>
            </a:r>
          </a:p>
          <a:p>
            <a:pPr marL="0" indent="0">
              <a:spcBef>
                <a:spcPts val="1705"/>
              </a:spcBef>
              <a:buNone/>
            </a:pPr>
            <a:r>
              <a:rPr lang="en-US" sz="2400" dirty="0">
                <a:latin typeface="Calibri   "/>
                <a:cs typeface="Times New Roman" panose="02020603050405020304" pitchFamily="18" charset="0"/>
              </a:rPr>
              <a:t>Use regression and baseline data as a reference for disaster identification.</a:t>
            </a:r>
          </a:p>
          <a:p>
            <a:pPr marL="0" indent="0">
              <a:spcBef>
                <a:spcPts val="1705"/>
              </a:spcBef>
              <a:buNone/>
            </a:pPr>
            <a:r>
              <a:rPr lang="en-US" sz="2400" dirty="0">
                <a:latin typeface="Calibri   "/>
                <a:cs typeface="Times New Roman" panose="02020603050405020304" pitchFamily="18" charset="0"/>
              </a:rPr>
              <a:t>Use of Machine Learning algorithms and regression models to predict maximum demand, particularly using weather data.</a:t>
            </a:r>
          </a:p>
          <a:p>
            <a:pPr marL="0" indent="0">
              <a:spcBef>
                <a:spcPts val="1705"/>
              </a:spcBef>
              <a:buNone/>
            </a:pPr>
            <a:r>
              <a:rPr lang="en-US" sz="2400" dirty="0">
                <a:ea typeface="Tahoma" panose="020B0604030504040204" pitchFamily="34" charset="0"/>
                <a:cs typeface="Tahoma" panose="020B0604030504040204" pitchFamily="34" charset="0"/>
              </a:rPr>
              <a:t>Identify ways to contribute to built resilience in  communities that have greater risk and less resources.  </a:t>
            </a:r>
            <a:endParaRPr lang="en-US" sz="2400" dirty="0">
              <a:latin typeface="Calibri   "/>
              <a:cs typeface="Times New Roman" panose="02020603050405020304" pitchFamily="18" charset="0"/>
            </a:endParaRPr>
          </a:p>
          <a:p>
            <a:pPr marL="0" indent="0" algn="ctr">
              <a:buNone/>
            </a:pPr>
            <a:r>
              <a:rPr lang="en-US" sz="2400" b="1" dirty="0">
                <a:latin typeface="Calibri   "/>
                <a:cs typeface="Times New Roman" panose="02020603050405020304" pitchFamily="18" charset="0"/>
              </a:rPr>
              <a:t>References/Acknowledgements</a:t>
            </a:r>
          </a:p>
          <a:p>
            <a:pPr marL="0" indent="0">
              <a:spcBef>
                <a:spcPts val="1705"/>
              </a:spcBef>
              <a:buNone/>
            </a:pPr>
            <a:r>
              <a:rPr lang="en-US" sz="2400" i="1" dirty="0">
                <a:latin typeface="Calibri   "/>
                <a:cs typeface="Times New Roman" panose="02020603050405020304" pitchFamily="18" charset="0"/>
              </a:rPr>
              <a:t>We acknowledge funding from the NSF-20-599 Award No. 2150195,  PI-Dr. Edouard </a:t>
            </a:r>
            <a:r>
              <a:rPr lang="en-US" sz="2400" i="1" dirty="0" err="1">
                <a:latin typeface="Calibri   "/>
                <a:cs typeface="Times New Roman" panose="02020603050405020304" pitchFamily="18" charset="0"/>
              </a:rPr>
              <a:t>Tchertchian</a:t>
            </a:r>
            <a:r>
              <a:rPr lang="en-US" sz="2400" i="1" dirty="0">
                <a:latin typeface="Calibri   "/>
                <a:cs typeface="Times New Roman" panose="02020603050405020304" pitchFamily="18" charset="0"/>
              </a:rPr>
              <a:t>, Mentor Dr. Carmen Caiseda, IAUPR-Bayamon Campus and  Prof. Jorge Feliciano, ITEC-</a:t>
            </a:r>
            <a:r>
              <a:rPr lang="en-US" sz="2400" i="1" dirty="0" err="1">
                <a:latin typeface="Calibri   "/>
                <a:cs typeface="Times New Roman" panose="02020603050405020304" pitchFamily="18" charset="0"/>
              </a:rPr>
              <a:t>Manati</a:t>
            </a:r>
            <a:r>
              <a:rPr lang="en-US" sz="2400" i="1" dirty="0">
                <a:latin typeface="Calibri   "/>
                <a:cs typeface="Times New Roman" panose="02020603050405020304" pitchFamily="18" charset="0"/>
              </a:rPr>
              <a:t> for the opportunity, and support.</a:t>
            </a:r>
          </a:p>
          <a:p>
            <a:pPr marL="324863" indent="-324863">
              <a:spcBef>
                <a:spcPts val="1705"/>
              </a:spcBef>
              <a:buAutoNum type="arabicPeriod"/>
            </a:pPr>
            <a:r>
              <a:rPr lang="en-US" sz="2400" dirty="0">
                <a:solidFill>
                  <a:srgbClr val="FF0000"/>
                </a:solidFill>
                <a:latin typeface="Calibri   "/>
                <a:cs typeface="Times New Roman" panose="02020603050405020304" pitchFamily="18" charset="0"/>
              </a:rPr>
              <a:t>Datasets  -   DANIEL</a:t>
            </a:r>
          </a:p>
          <a:p>
            <a:pPr marL="324863" indent="-324863">
              <a:spcBef>
                <a:spcPts val="1705"/>
              </a:spcBef>
              <a:buAutoNum type="arabicPeriod"/>
            </a:pPr>
            <a:r>
              <a:rPr lang="en-US" sz="2400" dirty="0">
                <a:latin typeface="Calibri   "/>
                <a:cs typeface="Times New Roman" panose="02020603050405020304" pitchFamily="18" charset="0"/>
              </a:rPr>
              <a:t>Weather data website Weather Spark </a:t>
            </a:r>
            <a:r>
              <a:rPr lang="es-DO" sz="1800" b="0" i="0" u="sng" strike="noStrike" dirty="0">
                <a:solidFill>
                  <a:srgbClr val="0070C0"/>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https://</a:t>
            </a:r>
            <a:r>
              <a:rPr lang="es-DO" sz="1800" b="0" i="0" u="sng" strike="noStrike" dirty="0">
                <a:solidFill>
                  <a:srgbClr val="0563C1"/>
                </a:solidFill>
                <a:effectLst/>
                <a:latin typeface="Calibri" panose="020F0502020204030204" pitchFamily="34" charset="0"/>
                <a:hlinkClick r:id="rId4">
                  <a:extLst>
                    <a:ext uri="{A12FA001-AC4F-418D-AE19-62706E023703}">
                      <ahyp:hlinkClr xmlns:ahyp="http://schemas.microsoft.com/office/drawing/2018/hyperlinkcolor" val="tx"/>
                    </a:ext>
                  </a:extLst>
                </a:hlinkClick>
              </a:rPr>
              <a:t>es.weatherspark.com/y/150269/Clima-promedio-en-Puerto-Rico-durante-todo-el-a%C3%B1o</a:t>
            </a:r>
            <a:r>
              <a:rPr lang="es-DO" sz="1800" b="0" i="0" u="none" strike="noStrike" dirty="0">
                <a:solidFill>
                  <a:srgbClr val="000000"/>
                </a:solidFill>
                <a:effectLst/>
                <a:latin typeface="Calibri" panose="020F0502020204030204" pitchFamily="34" charset="0"/>
              </a:rPr>
              <a:t>   </a:t>
            </a:r>
          </a:p>
          <a:p>
            <a:pPr marL="324863" indent="-324863">
              <a:spcBef>
                <a:spcPts val="1705"/>
              </a:spcBef>
              <a:buAutoNum type="arabicPeriod"/>
            </a:pPr>
            <a:r>
              <a:rPr lang="en-US" sz="2400" dirty="0">
                <a:latin typeface="Calibri   "/>
                <a:cs typeface="Times New Roman" panose="02020603050405020304" pitchFamily="18" charset="0"/>
              </a:rPr>
              <a:t> E</a:t>
            </a:r>
            <a:r>
              <a:rPr lang="es-DO" sz="2400" b="0" i="0" u="none" strike="noStrike" dirty="0" err="1">
                <a:effectLst/>
              </a:rPr>
              <a:t>stado</a:t>
            </a:r>
            <a:r>
              <a:rPr lang="es-DO" sz="2400" b="0" i="0" u="none" strike="noStrike" dirty="0">
                <a:effectLst/>
              </a:rPr>
              <a:t> de Situación Energética del País Informe Anual 2014 Oficina Estatal de Política Pública Energética, ELA </a:t>
            </a:r>
            <a:r>
              <a:rPr lang="es-DO" sz="1800" b="1" i="0" u="sng" strike="noStrike" dirty="0">
                <a:solidFill>
                  <a:srgbClr val="1155CC"/>
                </a:solidFill>
                <a:effectLst/>
                <a:latin typeface="Quattrocento Sans" panose="020B0502050000020003" pitchFamily="34" charset="0"/>
                <a:hlinkClick r:id="rId5"/>
              </a:rPr>
              <a:t>http://www.estadisticas.gobierno.pr/iepr/LinkClick.aspx?fileticket=M53Ieo1-ots%3d&amp;tabid=186</a:t>
            </a:r>
            <a:r>
              <a:rPr lang="es-DO" sz="1800" b="1" i="0" u="none" strike="noStrike" dirty="0">
                <a:solidFill>
                  <a:srgbClr val="242424"/>
                </a:solidFill>
                <a:effectLst/>
                <a:latin typeface="Quattrocento Sans" panose="020B0502050000020003" pitchFamily="34" charset="0"/>
              </a:rPr>
              <a:t>  </a:t>
            </a:r>
            <a:endParaRPr lang="en-US" sz="2400" dirty="0">
              <a:solidFill>
                <a:srgbClr val="FF0000"/>
              </a:solidFill>
              <a:latin typeface="Calibri   "/>
              <a:cs typeface="Times New Roman" panose="02020603050405020304" pitchFamily="18" charset="0"/>
            </a:endParaRPr>
          </a:p>
          <a:p>
            <a:pPr marL="324863" indent="-324863">
              <a:spcBef>
                <a:spcPts val="1705"/>
              </a:spcBef>
              <a:buAutoNum type="arabicPeriod"/>
            </a:pPr>
            <a:r>
              <a:rPr lang="en-US" sz="2400" dirty="0">
                <a:solidFill>
                  <a:srgbClr val="FF0000"/>
                </a:solidFill>
                <a:latin typeface="Calibri   "/>
                <a:cs typeface="Times New Roman" panose="02020603050405020304" pitchFamily="18" charset="0"/>
              </a:rPr>
              <a:t>Other pertinent references used  - DANIEL</a:t>
            </a:r>
          </a:p>
          <a:p>
            <a:pPr>
              <a:spcBef>
                <a:spcPts val="0"/>
              </a:spcBef>
              <a:buFont typeface="+mj-lt"/>
              <a:buAutoNum type="arabicPeriod"/>
            </a:pPr>
            <a:endParaRPr lang="en-US" sz="2400" dirty="0">
              <a:latin typeface="Calibri   "/>
              <a:cs typeface="Times New Roman" panose="02020603050405020304" pitchFamily="18" charset="0"/>
            </a:endParaRPr>
          </a:p>
        </p:txBody>
      </p:sp>
      <p:sp>
        <p:nvSpPr>
          <p:cNvPr id="2" name="Rectangle: Rounded Corners 1">
            <a:extLst>
              <a:ext uri="{FF2B5EF4-FFF2-40B4-BE49-F238E27FC236}">
                <a16:creationId xmlns:a16="http://schemas.microsoft.com/office/drawing/2014/main" id="{76A13940-C173-DEA5-B661-A3C06A7C8A4C}"/>
              </a:ext>
            </a:extLst>
          </p:cNvPr>
          <p:cNvSpPr/>
          <p:nvPr/>
        </p:nvSpPr>
        <p:spPr>
          <a:xfrm>
            <a:off x="380581" y="349620"/>
            <a:ext cx="21184438" cy="2296954"/>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37"/>
          </a:p>
        </p:txBody>
      </p:sp>
      <p:sp>
        <p:nvSpPr>
          <p:cNvPr id="12" name="Title 3">
            <a:extLst>
              <a:ext uri="{FF2B5EF4-FFF2-40B4-BE49-F238E27FC236}">
                <a16:creationId xmlns:a16="http://schemas.microsoft.com/office/drawing/2014/main" id="{DFBC1988-1631-211E-254F-E7D8C00D3CDC}"/>
              </a:ext>
            </a:extLst>
          </p:cNvPr>
          <p:cNvSpPr txBox="1">
            <a:spLocks/>
          </p:cNvSpPr>
          <p:nvPr/>
        </p:nvSpPr>
        <p:spPr>
          <a:xfrm>
            <a:off x="991403" y="552570"/>
            <a:ext cx="19962795" cy="2296953"/>
          </a:xfrm>
          <a:prstGeom prst="rect">
            <a:avLst/>
          </a:prstGeom>
        </p:spPr>
        <p:txBody>
          <a:bodyPr vert="horz" lIns="57752" tIns="28876" rIns="57752" bIns="28876" rtlCol="0" anchor="ctr">
            <a:normAutofit fontScale="77500" lnSpcReduction="20000"/>
          </a:bodyPr>
          <a:lst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a:lstStyle>
          <a:p>
            <a:pPr algn="ctr"/>
            <a:r>
              <a:rPr lang="en-US" sz="6316" b="1" dirty="0">
                <a:latin typeface="Times New Roman" panose="02020603050405020304" pitchFamily="18" charset="0"/>
                <a:cs typeface="Times New Roman" panose="02020603050405020304" pitchFamily="18" charset="0"/>
              </a:rPr>
              <a:t>Data Analysis of the Electrical Power System in Puerto Rico (2011, 2022) </a:t>
            </a:r>
            <a:endParaRPr lang="en-US" sz="6316" dirty="0">
              <a:latin typeface="Times New Roman" panose="02020603050405020304" pitchFamily="18" charset="0"/>
              <a:cs typeface="Times New Roman" panose="02020603050405020304" pitchFamily="18" charset="0"/>
            </a:endParaRPr>
          </a:p>
          <a:p>
            <a:pPr algn="ctr"/>
            <a:r>
              <a:rPr lang="en-US" sz="3158" dirty="0">
                <a:latin typeface="Times New Roman" panose="02020603050405020304" pitchFamily="18" charset="0"/>
                <a:cs typeface="Times New Roman" panose="02020603050405020304" pitchFamily="18" charset="0"/>
              </a:rPr>
              <a:t>Authors </a:t>
            </a:r>
            <a:r>
              <a:rPr lang="en-US" sz="3158" dirty="0" err="1">
                <a:latin typeface="Times New Roman" panose="02020603050405020304" pitchFamily="18" charset="0"/>
                <a:cs typeface="Times New Roman" panose="02020603050405020304" pitchFamily="18" charset="0"/>
              </a:rPr>
              <a:t>Onix</a:t>
            </a:r>
            <a:r>
              <a:rPr lang="en-US" sz="3158" dirty="0">
                <a:latin typeface="Times New Roman" panose="02020603050405020304" pitchFamily="18" charset="0"/>
                <a:cs typeface="Times New Roman" panose="02020603050405020304" pitchFamily="18" charset="0"/>
              </a:rPr>
              <a:t> Gonzalez, Daniel Barreiro</a:t>
            </a:r>
            <a:br>
              <a:rPr lang="en-US" sz="3158" dirty="0">
                <a:latin typeface="Times New Roman" panose="02020603050405020304" pitchFamily="18" charset="0"/>
                <a:cs typeface="Times New Roman" panose="02020603050405020304" pitchFamily="18" charset="0"/>
              </a:rPr>
            </a:br>
            <a:r>
              <a:rPr lang="en-US" sz="3158" dirty="0">
                <a:latin typeface="Times New Roman" panose="02020603050405020304" pitchFamily="18" charset="0"/>
                <a:cs typeface="Times New Roman" panose="02020603050405020304" pitchFamily="18" charset="0"/>
              </a:rPr>
              <a:t>Faculty Mentor: Dra. Carmen Caiseda,  Prof. Jorge Feliciano</a:t>
            </a:r>
            <a:br>
              <a:rPr lang="en-US" sz="3158" dirty="0">
                <a:latin typeface="Times New Roman" panose="02020603050405020304" pitchFamily="18" charset="0"/>
                <a:cs typeface="Times New Roman" panose="02020603050405020304" pitchFamily="18" charset="0"/>
              </a:rPr>
            </a:br>
            <a:r>
              <a:rPr lang="en-US" sz="3158" dirty="0">
                <a:latin typeface="Times New Roman" panose="02020603050405020304" pitchFamily="18" charset="0"/>
                <a:cs typeface="Times New Roman" panose="02020603050405020304" pitchFamily="18" charset="0"/>
              </a:rPr>
              <a:t>Inter American University of Puerto Rico, Bayamon Campus, Instituto </a:t>
            </a:r>
            <a:r>
              <a:rPr lang="en-US" sz="3158" dirty="0" err="1">
                <a:latin typeface="Times New Roman" panose="02020603050405020304" pitchFamily="18" charset="0"/>
                <a:cs typeface="Times New Roman" panose="02020603050405020304" pitchFamily="18" charset="0"/>
              </a:rPr>
              <a:t>Tecnologico</a:t>
            </a:r>
            <a:r>
              <a:rPr lang="en-US" sz="3158" dirty="0">
                <a:latin typeface="Times New Roman" panose="02020603050405020304" pitchFamily="18" charset="0"/>
                <a:cs typeface="Times New Roman" panose="02020603050405020304" pitchFamily="18" charset="0"/>
              </a:rPr>
              <a:t> de PR-</a:t>
            </a:r>
            <a:r>
              <a:rPr lang="en-US" sz="3158" dirty="0" err="1">
                <a:latin typeface="Times New Roman" panose="02020603050405020304" pitchFamily="18" charset="0"/>
                <a:cs typeface="Times New Roman" panose="02020603050405020304" pitchFamily="18" charset="0"/>
              </a:rPr>
              <a:t>Manati</a:t>
            </a:r>
            <a:br>
              <a:rPr lang="en-US" sz="3158" dirty="0">
                <a:latin typeface="Times New Roman" panose="02020603050405020304" pitchFamily="18" charset="0"/>
                <a:cs typeface="Times New Roman" panose="02020603050405020304" pitchFamily="18" charset="0"/>
              </a:rPr>
            </a:br>
            <a:r>
              <a:rPr lang="en-US" sz="3158" dirty="0">
                <a:latin typeface="Times New Roman" panose="02020603050405020304" pitchFamily="18" charset="0"/>
                <a:cs typeface="Times New Roman" panose="02020603050405020304" pitchFamily="18" charset="0"/>
              </a:rPr>
              <a:t>email: </a:t>
            </a:r>
            <a:r>
              <a:rPr lang="en-US" sz="3158" dirty="0">
                <a:latin typeface="Times New Roman" panose="02020603050405020304" pitchFamily="18" charset="0"/>
                <a:cs typeface="Times New Roman" panose="02020603050405020304" pitchFamily="18" charset="0"/>
                <a:hlinkClick r:id="rId6"/>
              </a:rPr>
              <a:t>emgonzalezco@itec.pr</a:t>
            </a:r>
            <a:r>
              <a:rPr lang="en-US" sz="3158" dirty="0">
                <a:latin typeface="Times New Roman" panose="02020603050405020304" pitchFamily="18" charset="0"/>
                <a:cs typeface="Times New Roman" panose="02020603050405020304" pitchFamily="18" charset="0"/>
              </a:rPr>
              <a:t>, </a:t>
            </a:r>
            <a:r>
              <a:rPr lang="en-US" sz="3158" dirty="0">
                <a:latin typeface="Times New Roman" panose="02020603050405020304" pitchFamily="18" charset="0"/>
                <a:cs typeface="Times New Roman" panose="02020603050405020304" pitchFamily="18" charset="0"/>
                <a:hlinkClick r:id="rId7"/>
              </a:rPr>
              <a:t>dbarreiro3939@interbayamon.edu</a:t>
            </a:r>
            <a:r>
              <a:rPr lang="en-US" sz="3158" dirty="0">
                <a:latin typeface="Times New Roman" panose="02020603050405020304" pitchFamily="18" charset="0"/>
                <a:cs typeface="Times New Roman" panose="02020603050405020304" pitchFamily="18" charset="0"/>
              </a:rPr>
              <a:t>   </a:t>
            </a:r>
            <a:br>
              <a:rPr lang="en-US" sz="3158" dirty="0">
                <a:latin typeface="Times New Roman" panose="02020603050405020304" pitchFamily="18" charset="0"/>
                <a:cs typeface="Times New Roman" panose="02020603050405020304" pitchFamily="18" charset="0"/>
              </a:rPr>
            </a:br>
            <a:endParaRPr lang="en-US" sz="3158" dirty="0">
              <a:latin typeface="Times New Roman" panose="02020603050405020304" pitchFamily="18" charset="0"/>
              <a:cs typeface="Times New Roman" panose="02020603050405020304" pitchFamily="18" charset="0"/>
            </a:endParaRPr>
          </a:p>
        </p:txBody>
      </p:sp>
      <p:pic>
        <p:nvPicPr>
          <p:cNvPr id="14" name="Picture 2" descr="Image result for universidad interamericana de puerto rico recinto de bayamon">
            <a:extLst>
              <a:ext uri="{FF2B5EF4-FFF2-40B4-BE49-F238E27FC236}">
                <a16:creationId xmlns:a16="http://schemas.microsoft.com/office/drawing/2014/main" id="{B3E2EE76-E0FD-68B1-B1EA-518703F6BA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9933" y="1496719"/>
            <a:ext cx="3177257" cy="76892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A logo of a globe with a gold cogwheel&#10;&#10;Description automatically generated">
            <a:extLst>
              <a:ext uri="{FF2B5EF4-FFF2-40B4-BE49-F238E27FC236}">
                <a16:creationId xmlns:a16="http://schemas.microsoft.com/office/drawing/2014/main" id="{F328B731-0653-84A0-4ABE-1AAF7F6572F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947169" y="1331851"/>
            <a:ext cx="1312440" cy="1314723"/>
          </a:xfrm>
          <a:prstGeom prst="rect">
            <a:avLst/>
          </a:prstGeom>
        </p:spPr>
      </p:pic>
      <p:pic>
        <p:nvPicPr>
          <p:cNvPr id="31" name="Picture 30" descr="A logo for a company&#10;&#10;Description automatically generated">
            <a:extLst>
              <a:ext uri="{FF2B5EF4-FFF2-40B4-BE49-F238E27FC236}">
                <a16:creationId xmlns:a16="http://schemas.microsoft.com/office/drawing/2014/main" id="{AD3CB9AC-34D6-1E24-2DBD-B8C50917FFD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138785" y="1335008"/>
            <a:ext cx="1596101" cy="798051"/>
          </a:xfrm>
          <a:prstGeom prst="rect">
            <a:avLst/>
          </a:prstGeom>
        </p:spPr>
      </p:pic>
      <p:pic>
        <p:nvPicPr>
          <p:cNvPr id="38" name="Picture 37" descr="A group of vehicles on a road&#10;&#10;Description automatically generated">
            <a:extLst>
              <a:ext uri="{FF2B5EF4-FFF2-40B4-BE49-F238E27FC236}">
                <a16:creationId xmlns:a16="http://schemas.microsoft.com/office/drawing/2014/main" id="{804ED1DF-F705-2A2D-AC7C-D8E73B279CB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11914" y="7528528"/>
            <a:ext cx="3279913" cy="21781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39" name="Table 38">
            <a:extLst>
              <a:ext uri="{FF2B5EF4-FFF2-40B4-BE49-F238E27FC236}">
                <a16:creationId xmlns:a16="http://schemas.microsoft.com/office/drawing/2014/main" id="{7A306AF8-BC5E-1072-D727-9B56FF1FC0B6}"/>
              </a:ext>
            </a:extLst>
          </p:cNvPr>
          <p:cNvGraphicFramePr>
            <a:graphicFrameLocks/>
          </p:cNvGraphicFramePr>
          <p:nvPr>
            <p:extLst>
              <p:ext uri="{D42A27DB-BD31-4B8C-83A1-F6EECF244321}">
                <p14:modId xmlns:p14="http://schemas.microsoft.com/office/powerpoint/2010/main" val="2060838836"/>
              </p:ext>
            </p:extLst>
          </p:nvPr>
        </p:nvGraphicFramePr>
        <p:xfrm>
          <a:off x="1154600" y="14254290"/>
          <a:ext cx="5630824" cy="3088003"/>
        </p:xfrm>
        <a:graphic>
          <a:graphicData uri="http://schemas.openxmlformats.org/drawingml/2006/table">
            <a:tbl>
              <a:tblPr firstRow="1" bandRow="1">
                <a:tableStyleId>{FABFCF23-3B69-468F-B69F-88F6DE6A72F2}</a:tableStyleId>
              </a:tblPr>
              <a:tblGrid>
                <a:gridCol w="1669776">
                  <a:extLst>
                    <a:ext uri="{9D8B030D-6E8A-4147-A177-3AD203B41FA5}">
                      <a16:colId xmlns:a16="http://schemas.microsoft.com/office/drawing/2014/main" val="803809889"/>
                    </a:ext>
                  </a:extLst>
                </a:gridCol>
                <a:gridCol w="3061252">
                  <a:extLst>
                    <a:ext uri="{9D8B030D-6E8A-4147-A177-3AD203B41FA5}">
                      <a16:colId xmlns:a16="http://schemas.microsoft.com/office/drawing/2014/main" val="3743191385"/>
                    </a:ext>
                  </a:extLst>
                </a:gridCol>
                <a:gridCol w="899796">
                  <a:extLst>
                    <a:ext uri="{9D8B030D-6E8A-4147-A177-3AD203B41FA5}">
                      <a16:colId xmlns:a16="http://schemas.microsoft.com/office/drawing/2014/main" val="3715758417"/>
                    </a:ext>
                  </a:extLst>
                </a:gridCol>
              </a:tblGrid>
              <a:tr h="393374">
                <a:tc>
                  <a:txBody>
                    <a:bodyPr/>
                    <a:lstStyle/>
                    <a:p>
                      <a:pPr algn="ctr"/>
                      <a:r>
                        <a:rPr lang="en-US" sz="2400" dirty="0"/>
                        <a:t>Variable</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Description</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Units</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4063640"/>
                  </a:ext>
                </a:extLst>
              </a:tr>
              <a:tr h="619698">
                <a:tc>
                  <a:txBody>
                    <a:bodyPr/>
                    <a:lstStyle/>
                    <a:p>
                      <a:pPr algn="ctr"/>
                      <a:r>
                        <a:rPr lang="en-US" sz="2000" dirty="0"/>
                        <a:t>Maximum Demand (</a:t>
                      </a:r>
                      <a:r>
                        <a:rPr lang="en-US" sz="2000" dirty="0" err="1"/>
                        <a:t>MaxD</a:t>
                      </a:r>
                      <a:r>
                        <a:rPr lang="en-US" sz="2000" dirty="0"/>
                        <a:t>)</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Maximum power  demand during the month</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MW</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1779437"/>
                  </a:ext>
                </a:extLst>
              </a:tr>
              <a:tr h="1624963">
                <a:tc>
                  <a:txBody>
                    <a:bodyPr/>
                    <a:lstStyle/>
                    <a:p>
                      <a:pPr algn="ctr"/>
                      <a:r>
                        <a:rPr lang="en-US" sz="2000" dirty="0"/>
                        <a:t>Gross Generation</a:t>
                      </a:r>
                    </a:p>
                    <a:p>
                      <a:pPr algn="ctr"/>
                      <a:r>
                        <a:rPr lang="en-US" sz="2000" dirty="0"/>
                        <a:t>(</a:t>
                      </a:r>
                      <a:r>
                        <a:rPr lang="en-US" sz="2000" dirty="0" err="1"/>
                        <a:t>GGen</a:t>
                      </a:r>
                      <a:r>
                        <a:rPr lang="en-US" sz="2000" dirty="0"/>
                        <a:t>)</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Total amount of electric energy produced by generating units and measured (</a:t>
                      </a:r>
                      <a:r>
                        <a:rPr lang="en-US" sz="2000" dirty="0" err="1"/>
                        <a:t>MkWh</a:t>
                      </a:r>
                      <a:r>
                        <a:rPr lang="en-US" sz="2000" dirty="0"/>
                        <a:t>) during a month  </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err="1"/>
                        <a:t>MkWh</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825245"/>
                  </a:ext>
                </a:extLst>
              </a:tr>
            </a:tbl>
          </a:graphicData>
        </a:graphic>
      </p:graphicFrame>
      <p:graphicFrame>
        <p:nvGraphicFramePr>
          <p:cNvPr id="41" name="Table 40">
            <a:extLst>
              <a:ext uri="{FF2B5EF4-FFF2-40B4-BE49-F238E27FC236}">
                <a16:creationId xmlns:a16="http://schemas.microsoft.com/office/drawing/2014/main" id="{1187EBEE-C8D7-B929-BD1E-40852331ED45}"/>
              </a:ext>
            </a:extLst>
          </p:cNvPr>
          <p:cNvGraphicFramePr>
            <a:graphicFrameLocks/>
          </p:cNvGraphicFramePr>
          <p:nvPr>
            <p:extLst>
              <p:ext uri="{D42A27DB-BD31-4B8C-83A1-F6EECF244321}">
                <p14:modId xmlns:p14="http://schemas.microsoft.com/office/powerpoint/2010/main" val="3001044081"/>
              </p:ext>
            </p:extLst>
          </p:nvPr>
        </p:nvGraphicFramePr>
        <p:xfrm>
          <a:off x="15149185" y="8873765"/>
          <a:ext cx="5630824" cy="3931920"/>
        </p:xfrm>
        <a:graphic>
          <a:graphicData uri="http://schemas.openxmlformats.org/drawingml/2006/table">
            <a:tbl>
              <a:tblPr firstRow="1" bandRow="1">
                <a:tableStyleId>{FABFCF23-3B69-468F-B69F-88F6DE6A72F2}</a:tableStyleId>
              </a:tblPr>
              <a:tblGrid>
                <a:gridCol w="2177818">
                  <a:extLst>
                    <a:ext uri="{9D8B030D-6E8A-4147-A177-3AD203B41FA5}">
                      <a16:colId xmlns:a16="http://schemas.microsoft.com/office/drawing/2014/main" val="803809889"/>
                    </a:ext>
                  </a:extLst>
                </a:gridCol>
                <a:gridCol w="1573618">
                  <a:extLst>
                    <a:ext uri="{9D8B030D-6E8A-4147-A177-3AD203B41FA5}">
                      <a16:colId xmlns:a16="http://schemas.microsoft.com/office/drawing/2014/main" val="3743191385"/>
                    </a:ext>
                  </a:extLst>
                </a:gridCol>
                <a:gridCol w="1879388">
                  <a:extLst>
                    <a:ext uri="{9D8B030D-6E8A-4147-A177-3AD203B41FA5}">
                      <a16:colId xmlns:a16="http://schemas.microsoft.com/office/drawing/2014/main" val="3715758417"/>
                    </a:ext>
                  </a:extLst>
                </a:gridCol>
              </a:tblGrid>
              <a:tr h="393374">
                <a:tc>
                  <a:txBody>
                    <a:bodyPr/>
                    <a:lstStyle/>
                    <a:p>
                      <a:pPr algn="ctr"/>
                      <a:r>
                        <a:rPr lang="en-US" sz="2400" dirty="0"/>
                        <a:t>Measure</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err="1"/>
                        <a:t>MaxD</a:t>
                      </a:r>
                      <a:r>
                        <a:rPr lang="en-US" sz="2400" dirty="0"/>
                        <a:t> (</a:t>
                      </a:r>
                      <a:r>
                        <a:rPr lang="en-US" sz="2400" dirty="0" err="1"/>
                        <a:t>Pre,Post</a:t>
                      </a:r>
                      <a:r>
                        <a:rPr lang="en-US" sz="2400" dirty="0"/>
                        <a:t>)</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err="1"/>
                        <a:t>GGen</a:t>
                      </a:r>
                      <a:endParaRPr lang="en-US" sz="2400" dirty="0"/>
                    </a:p>
                    <a:p>
                      <a:pPr algn="ctr"/>
                      <a:r>
                        <a:rPr lang="en-US" sz="2400" dirty="0"/>
                        <a:t>(</a:t>
                      </a:r>
                      <a:r>
                        <a:rPr lang="en-US" sz="2400" dirty="0" err="1"/>
                        <a:t>Pre,Post</a:t>
                      </a:r>
                      <a:r>
                        <a:rPr lang="en-US" sz="2400" dirty="0"/>
                        <a:t>)</a:t>
                      </a:r>
                      <a:endParaRPr lang="en-PR"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4063640"/>
                  </a:ext>
                </a:extLst>
              </a:tr>
              <a:tr h="619698">
                <a:tc>
                  <a:txBody>
                    <a:bodyPr/>
                    <a:lstStyle/>
                    <a:p>
                      <a:pPr algn="ctr"/>
                      <a:r>
                        <a:rPr lang="en-US" sz="2000" dirty="0"/>
                        <a:t>Mean </a:t>
                      </a:r>
                      <a:r>
                        <a:rPr lang="en-US" sz="2000" dirty="0">
                          <a:latin typeface="Grotesque" panose="020B0504020202020204" pitchFamily="34" charset="0"/>
                        </a:rPr>
                        <a:t>± t-critical* SE (</a:t>
                      </a:r>
                      <a:r>
                        <a:rPr lang="en-US" sz="2000" dirty="0" err="1">
                          <a:latin typeface="Grotesque" panose="020B0504020202020204" pitchFamily="34" charset="0"/>
                        </a:rPr>
                        <a:t>Pre,Post</a:t>
                      </a:r>
                      <a:r>
                        <a:rPr lang="en-US" sz="2000" dirty="0">
                          <a:latin typeface="Grotesque" panose="020B0504020202020204" pitchFamily="34" charset="0"/>
                        </a:rPr>
                        <a:t>)</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solidFill>
                            <a:schemeClr val="tx1"/>
                          </a:solidFill>
                        </a:rPr>
                        <a:t>2940 </a:t>
                      </a:r>
                      <a:r>
                        <a:rPr lang="en-US" sz="2000" dirty="0">
                          <a:solidFill>
                            <a:schemeClr val="tx1"/>
                          </a:solidFill>
                          <a:latin typeface="Grotesque" panose="020B0504020202020204" pitchFamily="34" charset="0"/>
                        </a:rPr>
                        <a:t>± 31.15</a:t>
                      </a:r>
                    </a:p>
                    <a:p>
                      <a:pPr algn="ctr"/>
                      <a:r>
                        <a:rPr lang="en-US" sz="2000" dirty="0">
                          <a:solidFill>
                            <a:schemeClr val="tx1"/>
                          </a:solidFill>
                          <a:latin typeface="Grotesque" panose="020B0504020202020204" pitchFamily="34" charset="0"/>
                        </a:rPr>
                        <a:t>2627 ± 50.12</a:t>
                      </a:r>
                    </a:p>
                    <a:p>
                      <a:pPr algn="ctr"/>
                      <a:r>
                        <a:rPr lang="en-US" sz="2000" dirty="0">
                          <a:solidFill>
                            <a:schemeClr val="tx1"/>
                          </a:solidFill>
                          <a:latin typeface="Grotesque" panose="020B0504020202020204" pitchFamily="34" charset="0"/>
                        </a:rPr>
                        <a:t>MW</a:t>
                      </a:r>
                      <a:endParaRPr lang="en-PR" sz="20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solidFill>
                            <a:schemeClr val="tx1"/>
                          </a:solidFill>
                        </a:rPr>
                        <a:t>1787  </a:t>
                      </a:r>
                      <a:r>
                        <a:rPr lang="en-US" sz="2000" dirty="0">
                          <a:solidFill>
                            <a:schemeClr val="tx1"/>
                          </a:solidFill>
                          <a:latin typeface="Grotesque" panose="020B0504020202020204" pitchFamily="34" charset="0"/>
                        </a:rPr>
                        <a:t>± 23.11</a:t>
                      </a:r>
                    </a:p>
                    <a:p>
                      <a:pPr marL="457200" indent="-457200" algn="ctr">
                        <a:buAutoNum type="arabicPlain" startAt="1566"/>
                      </a:pPr>
                      <a:r>
                        <a:rPr lang="en-US" sz="2000" dirty="0">
                          <a:solidFill>
                            <a:schemeClr val="tx1"/>
                          </a:solidFill>
                          <a:latin typeface="Grotesque" panose="020B0504020202020204" pitchFamily="34" charset="0"/>
                        </a:rPr>
                        <a:t>± 34.43</a:t>
                      </a:r>
                    </a:p>
                    <a:p>
                      <a:pPr marL="0" indent="0" algn="ctr">
                        <a:buNone/>
                      </a:pPr>
                      <a:r>
                        <a:rPr lang="en-US" sz="2000" dirty="0">
                          <a:solidFill>
                            <a:schemeClr val="tx1"/>
                          </a:solidFill>
                          <a:latin typeface="Grotesque" panose="020B0504020202020204" pitchFamily="34" charset="0"/>
                        </a:rPr>
                        <a:t>M kWh</a:t>
                      </a:r>
                      <a:endParaRPr lang="en-US" sz="2000" dirty="0">
                        <a:solidFill>
                          <a:srgbClr val="FF0000"/>
                        </a:solidFill>
                        <a:latin typeface="Grotesque" panose="020B05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1779437"/>
                  </a:ext>
                </a:extLst>
              </a:tr>
              <a:tr h="638072">
                <a:tc>
                  <a:txBody>
                    <a:bodyPr/>
                    <a:lstStyle/>
                    <a:p>
                      <a:pPr algn="ctr"/>
                      <a:r>
                        <a:rPr lang="en-US" sz="2000" dirty="0"/>
                        <a:t>Variance  Pre</a:t>
                      </a:r>
                    </a:p>
                    <a:p>
                      <a:pPr algn="ctr"/>
                      <a:r>
                        <a:rPr lang="en-US" sz="2000" dirty="0"/>
                        <a:t>Variance Post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2.52 E4    4.36 E4</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1.40 E4</a:t>
                      </a:r>
                    </a:p>
                    <a:p>
                      <a:pPr algn="ctr"/>
                      <a:r>
                        <a:rPr lang="en-US" sz="2000" dirty="0"/>
                        <a:t>2.07 E4</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825245"/>
                  </a:ext>
                </a:extLst>
              </a:tr>
              <a:tr h="439667">
                <a:tc>
                  <a:txBody>
                    <a:bodyPr/>
                    <a:lstStyle/>
                    <a:p>
                      <a:pPr algn="ctr"/>
                      <a:r>
                        <a:rPr lang="en-US" sz="2000" dirty="0"/>
                        <a:t>Observations (</a:t>
                      </a:r>
                      <a:r>
                        <a:rPr lang="en-US" sz="2000" dirty="0" err="1"/>
                        <a:t>Pre,Pos</a:t>
                      </a: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(72 48)</a:t>
                      </a:r>
                    </a:p>
                    <a:p>
                      <a:pPr algn="ctr"/>
                      <a:r>
                        <a:rPr lang="en-US" sz="2000" dirty="0" err="1"/>
                        <a:t>df</a:t>
                      </a:r>
                      <a:r>
                        <a:rPr lang="en-US" sz="2000" dirty="0"/>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(72,48)</a:t>
                      </a:r>
                    </a:p>
                    <a:p>
                      <a:pPr marL="0" marR="0" lvl="0" indent="0" algn="ctr" defTabSz="2194560" rtl="0" eaLnBrk="1" fontAlgn="auto" latinLnBrk="0" hangingPunct="1">
                        <a:lnSpc>
                          <a:spcPct val="100000"/>
                        </a:lnSpc>
                        <a:spcBef>
                          <a:spcPts val="0"/>
                        </a:spcBef>
                        <a:spcAft>
                          <a:spcPts val="0"/>
                        </a:spcAft>
                        <a:buClrTx/>
                        <a:buSzTx/>
                        <a:buFontTx/>
                        <a:buNone/>
                        <a:tabLst/>
                        <a:defRPr/>
                      </a:pPr>
                      <a:r>
                        <a:rPr lang="en-US" sz="2000" dirty="0" err="1"/>
                        <a:t>df</a:t>
                      </a:r>
                      <a:r>
                        <a:rPr lang="en-US" sz="2000" dirty="0"/>
                        <a:t>=118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2121572"/>
                  </a:ext>
                </a:extLst>
              </a:tr>
              <a:tr h="641684">
                <a:tc>
                  <a:txBody>
                    <a:bodyPr/>
                    <a:lstStyle/>
                    <a:p>
                      <a:pPr algn="ctr"/>
                      <a:r>
                        <a:rPr lang="en-US" sz="2000" dirty="0"/>
                        <a:t>T-stat </a:t>
                      </a:r>
                    </a:p>
                    <a:p>
                      <a:pPr algn="ctr"/>
                      <a:r>
                        <a:rPr lang="en-US" sz="2000" dirty="0"/>
                        <a:t> P-value – One-tail </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8.84</a:t>
                      </a:r>
                    </a:p>
                    <a:p>
                      <a:pPr algn="ctr"/>
                      <a:r>
                        <a:rPr lang="en-US" sz="2000" dirty="0"/>
                        <a:t>7.48 E-14</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9.19</a:t>
                      </a:r>
                    </a:p>
                    <a:p>
                      <a:pPr algn="ctr"/>
                      <a:r>
                        <a:rPr lang="en-US" sz="1800" dirty="0"/>
                        <a:t> </a:t>
                      </a:r>
                      <a:r>
                        <a:rPr lang="en-US" sz="2000" dirty="0"/>
                        <a:t>8.04 E-16</a:t>
                      </a:r>
                      <a:endParaRPr lang="en-PR"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556563"/>
                  </a:ext>
                </a:extLst>
              </a:tr>
            </a:tbl>
          </a:graphicData>
        </a:graphic>
      </p:graphicFrame>
      <p:pic>
        <p:nvPicPr>
          <p:cNvPr id="17" name="Picture 16" descr="A graph with numbers and dots&#10;&#10;Description automatically generated">
            <a:extLst>
              <a:ext uri="{FF2B5EF4-FFF2-40B4-BE49-F238E27FC236}">
                <a16:creationId xmlns:a16="http://schemas.microsoft.com/office/drawing/2014/main" id="{A859F1E0-8710-7994-1409-E8CE6BC9BF5E}"/>
              </a:ext>
            </a:extLst>
          </p:cNvPr>
          <p:cNvPicPr>
            <a:picLocks noGrp="1" noRot="1" noChangeAspect="1" noMove="1" noResize="1" noEditPoints="1" noAdjustHandles="1" noChangeArrowheads="1" noChangeShapeType="1" noCrop="1"/>
          </p:cNvPicPr>
          <p:nvPr/>
        </p:nvPicPr>
        <p:blipFill>
          <a:blip r:embed="rId12">
            <a:extLst>
              <a:ext uri="{28A0092B-C50C-407E-A947-70E740481C1C}">
                <a14:useLocalDpi xmlns:a14="http://schemas.microsoft.com/office/drawing/2010/main" val="0"/>
              </a:ext>
            </a:extLst>
          </a:blip>
          <a:stretch>
            <a:fillRect/>
          </a:stretch>
        </p:blipFill>
        <p:spPr>
          <a:xfrm>
            <a:off x="956524" y="20126400"/>
            <a:ext cx="6066576" cy="6612520"/>
          </a:xfrm>
          <a:prstGeom prst="rect">
            <a:avLst/>
          </a:prstGeom>
        </p:spPr>
      </p:pic>
      <p:pic>
        <p:nvPicPr>
          <p:cNvPr id="19" name="Picture 18" descr="A graph of different colored lines&#10;&#10;Description automatically generated">
            <a:extLst>
              <a:ext uri="{FF2B5EF4-FFF2-40B4-BE49-F238E27FC236}">
                <a16:creationId xmlns:a16="http://schemas.microsoft.com/office/drawing/2014/main" id="{06F77981-6ACF-C7C5-083C-5F3CBB2B11E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19475" y="5612675"/>
            <a:ext cx="6948214" cy="3613590"/>
          </a:xfrm>
          <a:prstGeom prst="rect">
            <a:avLst/>
          </a:prstGeom>
        </p:spPr>
      </p:pic>
      <p:pic>
        <p:nvPicPr>
          <p:cNvPr id="21" name="Picture 20" descr="A graph showing the temperature of years&#10;&#10;Description automatically generated">
            <a:extLst>
              <a:ext uri="{FF2B5EF4-FFF2-40B4-BE49-F238E27FC236}">
                <a16:creationId xmlns:a16="http://schemas.microsoft.com/office/drawing/2014/main" id="{5D020CAD-C424-F0F8-B305-AE5914BAABF1}"/>
              </a:ext>
            </a:extLst>
          </p:cNvPr>
          <p:cNvPicPr>
            <a:picLocks noGrp="1" noRot="1" noChangeAspect="1" noMove="1" noResize="1" noEditPoints="1" noAdjustHandles="1" noChangeArrowheads="1" noChangeShapeType="1" noCrop="1"/>
          </p:cNvPicPr>
          <p:nvPr/>
        </p:nvPicPr>
        <p:blipFill>
          <a:blip r:embed="rId14">
            <a:extLst>
              <a:ext uri="{28A0092B-C50C-407E-A947-70E740481C1C}">
                <a14:useLocalDpi xmlns:a14="http://schemas.microsoft.com/office/drawing/2010/main" val="0"/>
              </a:ext>
            </a:extLst>
          </a:blip>
          <a:stretch>
            <a:fillRect/>
          </a:stretch>
        </p:blipFill>
        <p:spPr>
          <a:xfrm>
            <a:off x="7619475" y="10507578"/>
            <a:ext cx="6948214" cy="3221121"/>
          </a:xfrm>
          <a:prstGeom prst="rect">
            <a:avLst/>
          </a:prstGeom>
        </p:spPr>
      </p:pic>
      <p:pic>
        <p:nvPicPr>
          <p:cNvPr id="6" name="Picture 5" descr="A graph with blue lines&#10;&#10;Description automatically generated">
            <a:extLst>
              <a:ext uri="{FF2B5EF4-FFF2-40B4-BE49-F238E27FC236}">
                <a16:creationId xmlns:a16="http://schemas.microsoft.com/office/drawing/2014/main" id="{7194839D-1407-88F5-84C7-DEF91708CF6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727096" y="24123470"/>
            <a:ext cx="6732972" cy="5230900"/>
          </a:xfrm>
          <a:prstGeom prst="rect">
            <a:avLst/>
          </a:prstGeom>
        </p:spPr>
      </p:pic>
      <p:pic>
        <p:nvPicPr>
          <p:cNvPr id="10" name="Picture 9" descr="A screen shot of a computer program&#10;&#10;Description automatically generated">
            <a:extLst>
              <a:ext uri="{FF2B5EF4-FFF2-40B4-BE49-F238E27FC236}">
                <a16:creationId xmlns:a16="http://schemas.microsoft.com/office/drawing/2014/main" id="{F551CAA0-3D3C-7F07-E9D5-B63D9C66292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690584" y="21646909"/>
            <a:ext cx="6732972" cy="1293823"/>
          </a:xfrm>
          <a:prstGeom prst="rect">
            <a:avLst/>
          </a:prstGeom>
        </p:spPr>
      </p:pic>
      <p:pic>
        <p:nvPicPr>
          <p:cNvPr id="13" name="Picture 12" descr="A screen shot of a computer&#10;&#10;Description automatically generated">
            <a:extLst>
              <a:ext uri="{FF2B5EF4-FFF2-40B4-BE49-F238E27FC236}">
                <a16:creationId xmlns:a16="http://schemas.microsoft.com/office/drawing/2014/main" id="{89D59971-54DB-EE9A-2606-7B7F6386EFC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896203" y="19035411"/>
            <a:ext cx="6319809" cy="2181978"/>
          </a:xfrm>
          <a:prstGeom prst="rect">
            <a:avLst/>
          </a:prstGeom>
        </p:spPr>
      </p:pic>
    </p:spTree>
    <p:extLst>
      <p:ext uri="{BB962C8B-B14F-4D97-AF65-F5344CB8AC3E}">
        <p14:creationId xmlns:p14="http://schemas.microsoft.com/office/powerpoint/2010/main" val="116733134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1553</TotalTime>
  <Words>775</Words>
  <Application>Microsoft Office PowerPoint</Application>
  <PresentationFormat>Custom</PresentationFormat>
  <Paragraphs>133</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Calibri   </vt:lpstr>
      <vt:lpstr>Calibri Light</vt:lpstr>
      <vt:lpstr>Grotesque</vt:lpstr>
      <vt:lpstr>Quattrocento Sans</vt:lpstr>
      <vt:lpstr>Tahoma</vt:lpstr>
      <vt:lpstr>Times New Roman</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Attendance Blockchain Algorithm Jeremis N. Morales Morales Jamie</dc:title>
  <dc:creator>JEREMIS MORALES MORALES</dc:creator>
  <cp:lastModifiedBy>Daniel Barreiro</cp:lastModifiedBy>
  <cp:revision>14</cp:revision>
  <dcterms:created xsi:type="dcterms:W3CDTF">2022-09-14T23:41:41Z</dcterms:created>
  <dcterms:modified xsi:type="dcterms:W3CDTF">2024-02-28T13:25:20Z</dcterms:modified>
</cp:coreProperties>
</file>
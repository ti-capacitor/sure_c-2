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8" r:id="rId5"/>
    <p:sldId id="283" r:id="rId6"/>
    <p:sldId id="278" r:id="rId7"/>
    <p:sldId id="265" r:id="rId8"/>
    <p:sldId id="286" r:id="rId9"/>
    <p:sldId id="293" r:id="rId10"/>
    <p:sldId id="294" r:id="rId11"/>
    <p:sldId id="297" r:id="rId12"/>
    <p:sldId id="299" r:id="rId13"/>
    <p:sldId id="270" r:id="rId14"/>
    <p:sldId id="287" r:id="rId15"/>
    <p:sldId id="298" r:id="rId16"/>
    <p:sldId id="272" r:id="rId17"/>
    <p:sldId id="279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43AAC7"/>
    <a:srgbClr val="FC2834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30"/>
  </p:normalViewPr>
  <p:slideViewPr>
    <p:cSldViewPr snapToGrid="0" showGuides="1">
      <p:cViewPr varScale="1">
        <p:scale>
          <a:sx n="63" d="100"/>
          <a:sy n="63" d="100"/>
        </p:scale>
        <p:origin x="804" y="56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Barreiro" userId="b1b9fb65cfc13dc1" providerId="LiveId" clId="{C1CDE0CB-8200-4900-9E95-41F0E838FFA7}"/>
    <pc:docChg chg="modSld sldOrd">
      <pc:chgData name="Daniel Barreiro" userId="b1b9fb65cfc13dc1" providerId="LiveId" clId="{C1CDE0CB-8200-4900-9E95-41F0E838FFA7}" dt="2024-04-23T21:23:04.886" v="3" actId="20577"/>
      <pc:docMkLst>
        <pc:docMk/>
      </pc:docMkLst>
      <pc:sldChg chg="modSp mod">
        <pc:chgData name="Daniel Barreiro" userId="b1b9fb65cfc13dc1" providerId="LiveId" clId="{C1CDE0CB-8200-4900-9E95-41F0E838FFA7}" dt="2024-04-23T21:23:04.886" v="3" actId="20577"/>
        <pc:sldMkLst>
          <pc:docMk/>
          <pc:sldMk cId="893108741" sldId="279"/>
        </pc:sldMkLst>
        <pc:spChg chg="mod">
          <ac:chgData name="Daniel Barreiro" userId="b1b9fb65cfc13dc1" providerId="LiveId" clId="{C1CDE0CB-8200-4900-9E95-41F0E838FFA7}" dt="2024-04-23T21:23:04.886" v="3" actId="20577"/>
          <ac:spMkLst>
            <pc:docMk/>
            <pc:sldMk cId="893108741" sldId="279"/>
            <ac:spMk id="12" creationId="{84FA0F1E-A920-0194-981E-4B573643BB48}"/>
          </ac:spMkLst>
        </pc:spChg>
      </pc:sldChg>
      <pc:sldChg chg="modSp mod ord">
        <pc:chgData name="Daniel Barreiro" userId="b1b9fb65cfc13dc1" providerId="LiveId" clId="{C1CDE0CB-8200-4900-9E95-41F0E838FFA7}" dt="2024-04-23T20:49:49.218" v="2" actId="20577"/>
        <pc:sldMkLst>
          <pc:docMk/>
          <pc:sldMk cId="375793412" sldId="298"/>
        </pc:sldMkLst>
        <pc:graphicFrameChg chg="modGraphic">
          <ac:chgData name="Daniel Barreiro" userId="b1b9fb65cfc13dc1" providerId="LiveId" clId="{C1CDE0CB-8200-4900-9E95-41F0E838FFA7}" dt="2024-04-23T20:49:49.218" v="2" actId="20577"/>
          <ac:graphicFrameMkLst>
            <pc:docMk/>
            <pc:sldMk cId="375793412" sldId="298"/>
            <ac:graphicFrameMk id="7" creationId="{D192F918-59D0-E1E1-526A-DA90127B4BE9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656996-5091-430D-8AEF-7B3EAC570B8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91B0B2C-53F9-4960-BE84-C54832E31A95}">
      <dgm:prSet phldrT="[Text]"/>
      <dgm:spPr>
        <a:solidFill>
          <a:schemeClr val="accent2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Database search</a:t>
          </a:r>
          <a:endParaRPr lang="LID4096" dirty="0"/>
        </a:p>
      </dgm:t>
    </dgm:pt>
    <dgm:pt modelId="{116B1A99-EA3B-4D77-ABEF-355CFBA7C951}" type="parTrans" cxnId="{8398FF5F-B9DC-4010-AACA-DD1A81E8BD5D}">
      <dgm:prSet/>
      <dgm:spPr/>
      <dgm:t>
        <a:bodyPr/>
        <a:lstStyle/>
        <a:p>
          <a:endParaRPr lang="LID4096"/>
        </a:p>
      </dgm:t>
    </dgm:pt>
    <dgm:pt modelId="{B7B238C6-FF92-4952-9A8A-572F6E4B2871}" type="sibTrans" cxnId="{8398FF5F-B9DC-4010-AACA-DD1A81E8BD5D}">
      <dgm:prSet/>
      <dgm:spPr>
        <a:solidFill>
          <a:schemeClr val="accent2"/>
        </a:solidFill>
      </dgm:spPr>
      <dgm:t>
        <a:bodyPr/>
        <a:lstStyle/>
        <a:p>
          <a:endParaRPr lang="LID4096"/>
        </a:p>
      </dgm:t>
    </dgm:pt>
    <dgm:pt modelId="{71B6BF6D-CB6F-476E-BE33-F8D82A365283}">
      <dgm:prSet phldrT="[Text]"/>
      <dgm:spPr>
        <a:solidFill>
          <a:schemeClr val="accent2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Data cleaning</a:t>
          </a:r>
          <a:endParaRPr lang="LID4096" dirty="0"/>
        </a:p>
      </dgm:t>
    </dgm:pt>
    <dgm:pt modelId="{A5183CAC-8E17-4F3B-A901-B33CAE2A3657}" type="parTrans" cxnId="{48A06797-3BBC-465A-BADB-5985D78D2D14}">
      <dgm:prSet/>
      <dgm:spPr/>
      <dgm:t>
        <a:bodyPr/>
        <a:lstStyle/>
        <a:p>
          <a:endParaRPr lang="LID4096"/>
        </a:p>
      </dgm:t>
    </dgm:pt>
    <dgm:pt modelId="{F757B145-14DA-424A-8B1E-DEA64D17F93B}" type="sibTrans" cxnId="{48A06797-3BBC-465A-BADB-5985D78D2D14}">
      <dgm:prSet/>
      <dgm:spPr>
        <a:solidFill>
          <a:schemeClr val="accent2"/>
        </a:solidFill>
      </dgm:spPr>
      <dgm:t>
        <a:bodyPr/>
        <a:lstStyle/>
        <a:p>
          <a:endParaRPr lang="LID4096"/>
        </a:p>
      </dgm:t>
    </dgm:pt>
    <dgm:pt modelId="{9DD91109-E2A8-46F8-8614-92F8C0D44C95}">
      <dgm:prSet phldrT="[Text]"/>
      <dgm:spPr>
        <a:solidFill>
          <a:schemeClr val="accent2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Data analysis</a:t>
          </a:r>
          <a:endParaRPr lang="LID4096" dirty="0"/>
        </a:p>
      </dgm:t>
    </dgm:pt>
    <dgm:pt modelId="{1C5996C8-2257-4D73-9D29-F8451EABDA01}" type="parTrans" cxnId="{678DAC27-1595-46AB-A75A-CE4B7DC71608}">
      <dgm:prSet/>
      <dgm:spPr/>
      <dgm:t>
        <a:bodyPr/>
        <a:lstStyle/>
        <a:p>
          <a:endParaRPr lang="LID4096"/>
        </a:p>
      </dgm:t>
    </dgm:pt>
    <dgm:pt modelId="{C9B9265E-F245-417F-B2FC-2FCC6460A309}" type="sibTrans" cxnId="{678DAC27-1595-46AB-A75A-CE4B7DC71608}">
      <dgm:prSet/>
      <dgm:spPr/>
      <dgm:t>
        <a:bodyPr/>
        <a:lstStyle/>
        <a:p>
          <a:endParaRPr lang="LID4096"/>
        </a:p>
      </dgm:t>
    </dgm:pt>
    <dgm:pt modelId="{F09A9D4A-134E-4887-A29D-FBEC7B79DEDC}" type="pres">
      <dgm:prSet presAssocID="{B8656996-5091-430D-8AEF-7B3EAC570B81}" presName="Name0" presStyleCnt="0">
        <dgm:presLayoutVars>
          <dgm:dir/>
          <dgm:resizeHandles val="exact"/>
        </dgm:presLayoutVars>
      </dgm:prSet>
      <dgm:spPr/>
    </dgm:pt>
    <dgm:pt modelId="{9EFF6F1C-1622-4FC2-AECD-1BECF368C222}" type="pres">
      <dgm:prSet presAssocID="{791B0B2C-53F9-4960-BE84-C54832E31A95}" presName="node" presStyleLbl="node1" presStyleIdx="0" presStyleCnt="3">
        <dgm:presLayoutVars>
          <dgm:bulletEnabled val="1"/>
        </dgm:presLayoutVars>
      </dgm:prSet>
      <dgm:spPr/>
    </dgm:pt>
    <dgm:pt modelId="{DD35795F-D680-4DC7-8F71-7D6C8546B3F2}" type="pres">
      <dgm:prSet presAssocID="{B7B238C6-FF92-4952-9A8A-572F6E4B2871}" presName="sibTrans" presStyleLbl="sibTrans2D1" presStyleIdx="0" presStyleCnt="2"/>
      <dgm:spPr/>
    </dgm:pt>
    <dgm:pt modelId="{726114F3-9CA5-4E52-9EC0-EC066F2FFF2A}" type="pres">
      <dgm:prSet presAssocID="{B7B238C6-FF92-4952-9A8A-572F6E4B2871}" presName="connectorText" presStyleLbl="sibTrans2D1" presStyleIdx="0" presStyleCnt="2"/>
      <dgm:spPr/>
    </dgm:pt>
    <dgm:pt modelId="{CCDE3F91-1486-4602-A297-BA8D8A6F42A8}" type="pres">
      <dgm:prSet presAssocID="{71B6BF6D-CB6F-476E-BE33-F8D82A365283}" presName="node" presStyleLbl="node1" presStyleIdx="1" presStyleCnt="3">
        <dgm:presLayoutVars>
          <dgm:bulletEnabled val="1"/>
        </dgm:presLayoutVars>
      </dgm:prSet>
      <dgm:spPr/>
    </dgm:pt>
    <dgm:pt modelId="{B2DD632D-71C0-40A0-B3DA-19BE16B45DCF}" type="pres">
      <dgm:prSet presAssocID="{F757B145-14DA-424A-8B1E-DEA64D17F93B}" presName="sibTrans" presStyleLbl="sibTrans2D1" presStyleIdx="1" presStyleCnt="2"/>
      <dgm:spPr/>
    </dgm:pt>
    <dgm:pt modelId="{5D49543F-70EA-43A2-8874-3C46EFF89774}" type="pres">
      <dgm:prSet presAssocID="{F757B145-14DA-424A-8B1E-DEA64D17F93B}" presName="connectorText" presStyleLbl="sibTrans2D1" presStyleIdx="1" presStyleCnt="2"/>
      <dgm:spPr/>
    </dgm:pt>
    <dgm:pt modelId="{810EB6CD-5E22-4E08-BF2F-8A3C96A9C08B}" type="pres">
      <dgm:prSet presAssocID="{9DD91109-E2A8-46F8-8614-92F8C0D44C95}" presName="node" presStyleLbl="node1" presStyleIdx="2" presStyleCnt="3">
        <dgm:presLayoutVars>
          <dgm:bulletEnabled val="1"/>
        </dgm:presLayoutVars>
      </dgm:prSet>
      <dgm:spPr/>
    </dgm:pt>
  </dgm:ptLst>
  <dgm:cxnLst>
    <dgm:cxn modelId="{EF97771E-69D5-48F3-8489-058F6C99F5FD}" type="presOf" srcId="{B7B238C6-FF92-4952-9A8A-572F6E4B2871}" destId="{726114F3-9CA5-4E52-9EC0-EC066F2FFF2A}" srcOrd="1" destOrd="0" presId="urn:microsoft.com/office/officeart/2005/8/layout/process1"/>
    <dgm:cxn modelId="{678DAC27-1595-46AB-A75A-CE4B7DC71608}" srcId="{B8656996-5091-430D-8AEF-7B3EAC570B81}" destId="{9DD91109-E2A8-46F8-8614-92F8C0D44C95}" srcOrd="2" destOrd="0" parTransId="{1C5996C8-2257-4D73-9D29-F8451EABDA01}" sibTransId="{C9B9265E-F245-417F-B2FC-2FCC6460A309}"/>
    <dgm:cxn modelId="{8398FF5F-B9DC-4010-AACA-DD1A81E8BD5D}" srcId="{B8656996-5091-430D-8AEF-7B3EAC570B81}" destId="{791B0B2C-53F9-4960-BE84-C54832E31A95}" srcOrd="0" destOrd="0" parTransId="{116B1A99-EA3B-4D77-ABEF-355CFBA7C951}" sibTransId="{B7B238C6-FF92-4952-9A8A-572F6E4B2871}"/>
    <dgm:cxn modelId="{3DDB3868-6346-4466-9D1E-1FD893023EA8}" type="presOf" srcId="{B8656996-5091-430D-8AEF-7B3EAC570B81}" destId="{F09A9D4A-134E-4887-A29D-FBEC7B79DEDC}" srcOrd="0" destOrd="0" presId="urn:microsoft.com/office/officeart/2005/8/layout/process1"/>
    <dgm:cxn modelId="{FD82CA73-1766-4B10-8F73-24381B1A69F7}" type="presOf" srcId="{F757B145-14DA-424A-8B1E-DEA64D17F93B}" destId="{B2DD632D-71C0-40A0-B3DA-19BE16B45DCF}" srcOrd="0" destOrd="0" presId="urn:microsoft.com/office/officeart/2005/8/layout/process1"/>
    <dgm:cxn modelId="{48A06797-3BBC-465A-BADB-5985D78D2D14}" srcId="{B8656996-5091-430D-8AEF-7B3EAC570B81}" destId="{71B6BF6D-CB6F-476E-BE33-F8D82A365283}" srcOrd="1" destOrd="0" parTransId="{A5183CAC-8E17-4F3B-A901-B33CAE2A3657}" sibTransId="{F757B145-14DA-424A-8B1E-DEA64D17F93B}"/>
    <dgm:cxn modelId="{7A5FC6B7-CB59-4B68-8527-A28BCE3CF1B0}" type="presOf" srcId="{B7B238C6-FF92-4952-9A8A-572F6E4B2871}" destId="{DD35795F-D680-4DC7-8F71-7D6C8546B3F2}" srcOrd="0" destOrd="0" presId="urn:microsoft.com/office/officeart/2005/8/layout/process1"/>
    <dgm:cxn modelId="{3681EFD9-C8FC-463E-B8FB-135047342862}" type="presOf" srcId="{9DD91109-E2A8-46F8-8614-92F8C0D44C95}" destId="{810EB6CD-5E22-4E08-BF2F-8A3C96A9C08B}" srcOrd="0" destOrd="0" presId="urn:microsoft.com/office/officeart/2005/8/layout/process1"/>
    <dgm:cxn modelId="{25235ADC-F6F2-4B8C-B4A2-E486CF0046DA}" type="presOf" srcId="{791B0B2C-53F9-4960-BE84-C54832E31A95}" destId="{9EFF6F1C-1622-4FC2-AECD-1BECF368C222}" srcOrd="0" destOrd="0" presId="urn:microsoft.com/office/officeart/2005/8/layout/process1"/>
    <dgm:cxn modelId="{B1731DED-DFD4-4872-AF0A-2AA2948FDC08}" type="presOf" srcId="{F757B145-14DA-424A-8B1E-DEA64D17F93B}" destId="{5D49543F-70EA-43A2-8874-3C46EFF89774}" srcOrd="1" destOrd="0" presId="urn:microsoft.com/office/officeart/2005/8/layout/process1"/>
    <dgm:cxn modelId="{8B4EDBFA-8E6C-417D-B2E1-07E80E839F12}" type="presOf" srcId="{71B6BF6D-CB6F-476E-BE33-F8D82A365283}" destId="{CCDE3F91-1486-4602-A297-BA8D8A6F42A8}" srcOrd="0" destOrd="0" presId="urn:microsoft.com/office/officeart/2005/8/layout/process1"/>
    <dgm:cxn modelId="{8E79A0C0-74AF-4FC1-9983-4E2C664E1316}" type="presParOf" srcId="{F09A9D4A-134E-4887-A29D-FBEC7B79DEDC}" destId="{9EFF6F1C-1622-4FC2-AECD-1BECF368C222}" srcOrd="0" destOrd="0" presId="urn:microsoft.com/office/officeart/2005/8/layout/process1"/>
    <dgm:cxn modelId="{340ECCA3-1E66-4374-97B3-4767C79267D8}" type="presParOf" srcId="{F09A9D4A-134E-4887-A29D-FBEC7B79DEDC}" destId="{DD35795F-D680-4DC7-8F71-7D6C8546B3F2}" srcOrd="1" destOrd="0" presId="urn:microsoft.com/office/officeart/2005/8/layout/process1"/>
    <dgm:cxn modelId="{264EF551-206E-4525-B66C-CE4AE4E92C16}" type="presParOf" srcId="{DD35795F-D680-4DC7-8F71-7D6C8546B3F2}" destId="{726114F3-9CA5-4E52-9EC0-EC066F2FFF2A}" srcOrd="0" destOrd="0" presId="urn:microsoft.com/office/officeart/2005/8/layout/process1"/>
    <dgm:cxn modelId="{5958FA52-C654-42C8-824E-15B49B5F38F8}" type="presParOf" srcId="{F09A9D4A-134E-4887-A29D-FBEC7B79DEDC}" destId="{CCDE3F91-1486-4602-A297-BA8D8A6F42A8}" srcOrd="2" destOrd="0" presId="urn:microsoft.com/office/officeart/2005/8/layout/process1"/>
    <dgm:cxn modelId="{DA70BA4B-122A-4E13-B7FC-141004EB9714}" type="presParOf" srcId="{F09A9D4A-134E-4887-A29D-FBEC7B79DEDC}" destId="{B2DD632D-71C0-40A0-B3DA-19BE16B45DCF}" srcOrd="3" destOrd="0" presId="urn:microsoft.com/office/officeart/2005/8/layout/process1"/>
    <dgm:cxn modelId="{E33EB1BB-9F08-48BB-8711-6782ABBF5CD3}" type="presParOf" srcId="{B2DD632D-71C0-40A0-B3DA-19BE16B45DCF}" destId="{5D49543F-70EA-43A2-8874-3C46EFF89774}" srcOrd="0" destOrd="0" presId="urn:microsoft.com/office/officeart/2005/8/layout/process1"/>
    <dgm:cxn modelId="{A4B74FE9-9E72-49B8-BDED-BBC0E21DB372}" type="presParOf" srcId="{F09A9D4A-134E-4887-A29D-FBEC7B79DEDC}" destId="{810EB6CD-5E22-4E08-BF2F-8A3C96A9C08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FF6F1C-1622-4FC2-AECD-1BECF368C222}">
      <dsp:nvSpPr>
        <dsp:cNvPr id="0" name=""/>
        <dsp:cNvSpPr/>
      </dsp:nvSpPr>
      <dsp:spPr>
        <a:xfrm>
          <a:off x="9419" y="970697"/>
          <a:ext cx="2815361" cy="168921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Database search</a:t>
          </a:r>
          <a:endParaRPr lang="LID4096" sz="3600" kern="1200" dirty="0"/>
        </a:p>
      </dsp:txBody>
      <dsp:txXfrm>
        <a:off x="58894" y="1020172"/>
        <a:ext cx="2716411" cy="1590266"/>
      </dsp:txXfrm>
    </dsp:sp>
    <dsp:sp modelId="{DD35795F-D680-4DC7-8F71-7D6C8546B3F2}">
      <dsp:nvSpPr>
        <dsp:cNvPr id="0" name=""/>
        <dsp:cNvSpPr/>
      </dsp:nvSpPr>
      <dsp:spPr>
        <a:xfrm>
          <a:off x="3106316" y="1466201"/>
          <a:ext cx="596856" cy="6982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2500" kern="1200"/>
        </a:p>
      </dsp:txBody>
      <dsp:txXfrm>
        <a:off x="3106316" y="1605843"/>
        <a:ext cx="417799" cy="418925"/>
      </dsp:txXfrm>
    </dsp:sp>
    <dsp:sp modelId="{CCDE3F91-1486-4602-A297-BA8D8A6F42A8}">
      <dsp:nvSpPr>
        <dsp:cNvPr id="0" name=""/>
        <dsp:cNvSpPr/>
      </dsp:nvSpPr>
      <dsp:spPr>
        <a:xfrm>
          <a:off x="3950925" y="970697"/>
          <a:ext cx="2815361" cy="168921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Data cleaning</a:t>
          </a:r>
          <a:endParaRPr lang="LID4096" sz="3600" kern="1200" dirty="0"/>
        </a:p>
      </dsp:txBody>
      <dsp:txXfrm>
        <a:off x="4000400" y="1020172"/>
        <a:ext cx="2716411" cy="1590266"/>
      </dsp:txXfrm>
    </dsp:sp>
    <dsp:sp modelId="{B2DD632D-71C0-40A0-B3DA-19BE16B45DCF}">
      <dsp:nvSpPr>
        <dsp:cNvPr id="0" name=""/>
        <dsp:cNvSpPr/>
      </dsp:nvSpPr>
      <dsp:spPr>
        <a:xfrm>
          <a:off x="7047822" y="1466201"/>
          <a:ext cx="596856" cy="6982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2500" kern="1200"/>
        </a:p>
      </dsp:txBody>
      <dsp:txXfrm>
        <a:off x="7047822" y="1605843"/>
        <a:ext cx="417799" cy="418925"/>
      </dsp:txXfrm>
    </dsp:sp>
    <dsp:sp modelId="{810EB6CD-5E22-4E08-BF2F-8A3C96A9C08B}">
      <dsp:nvSpPr>
        <dsp:cNvPr id="0" name=""/>
        <dsp:cNvSpPr/>
      </dsp:nvSpPr>
      <dsp:spPr>
        <a:xfrm>
          <a:off x="7892431" y="970697"/>
          <a:ext cx="2815361" cy="168921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Data analysis</a:t>
          </a:r>
          <a:endParaRPr lang="LID4096" sz="3600" kern="1200" dirty="0"/>
        </a:p>
      </dsp:txBody>
      <dsp:txXfrm>
        <a:off x="7941906" y="1020172"/>
        <a:ext cx="2716411" cy="15902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067D9-116D-3843-ABDF-D6546C1962D4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D21CC-DD94-204E-93C8-E1AAF3084C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48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4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592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663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971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100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492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591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13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15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782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23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90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68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svg"/><Relationship Id="rId5" Type="http://schemas.openxmlformats.org/officeDocument/2006/relationships/image" Target="../media/image6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.sv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2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9.svg"/><Relationship Id="rId7" Type="http://schemas.openxmlformats.org/officeDocument/2006/relationships/image" Target="../media/image18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23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anchor="t">
            <a:noAutofit/>
          </a:bodyPr>
          <a:lstStyle>
            <a:lvl1pPr algn="l">
              <a:defRPr sz="5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reeform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anchor="t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c 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anchor="t">
            <a:noAutofit/>
          </a:bodyPr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7" name="Graphic 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Freeform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Picture Placeholder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69296" y="4041648"/>
            <a:ext cx="156362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9240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51392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c 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Graphic 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c 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le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690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bg2"/>
                </a:solidFill>
              </a:defRPr>
            </a:lvl1pPr>
          </a:lstStyle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icadores.pr/dataset/generacion-consumo-costo-ingresos-y-clientes-del-sistema-electrico-de-puerto-rico/resource/8025f821-45c1-4c6a-b2f4-8d641cc03df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ieefa.org/sites/default/files/2023-01/Hoja-de-ruta-de-recursos-energeticos-distribuidos-para-Puerto-Rico-Fase-I-Final-11_2019.pdf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8762-BFD9-B53C-F438-D440DBFD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2150" y="1789394"/>
            <a:ext cx="7868285" cy="2133600"/>
          </a:xfrm>
        </p:spPr>
        <p:txBody>
          <a:bodyPr/>
          <a:lstStyle/>
          <a:p>
            <a:pPr algn="ctr"/>
            <a:r>
              <a:rPr lang="en-US" sz="3500" dirty="0"/>
              <a:t>Analysis of Puerto Rico’s Status of Electrical Infrastructure</a:t>
            </a:r>
            <a:br>
              <a:rPr lang="en-US" sz="3500" dirty="0"/>
            </a:br>
            <a:r>
              <a:rPr lang="en-US" sz="3500" dirty="0"/>
              <a:t>SURE C^2</a:t>
            </a:r>
            <a:br>
              <a:rPr lang="en-US" sz="3500" dirty="0"/>
            </a:br>
            <a:br>
              <a:rPr lang="en-US" sz="3500" dirty="0"/>
            </a:br>
            <a:br>
              <a:rPr lang="en-US" sz="3500" dirty="0"/>
            </a:br>
            <a:br>
              <a:rPr lang="en-US" sz="2800" dirty="0"/>
            </a:br>
            <a:r>
              <a:rPr lang="en-US" sz="2800" dirty="0"/>
              <a:t>Daniel Barreiro</a:t>
            </a:r>
            <a:br>
              <a:rPr lang="en-US" sz="2800" dirty="0"/>
            </a:br>
            <a:br>
              <a:rPr lang="en-US" sz="4000" dirty="0"/>
            </a:b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D8A75-1FD5-F105-1F35-E4887ACA38A8}"/>
              </a:ext>
            </a:extLst>
          </p:cNvPr>
          <p:cNvSpPr txBox="1"/>
          <p:nvPr/>
        </p:nvSpPr>
        <p:spPr>
          <a:xfrm>
            <a:off x="2257425" y="5640237"/>
            <a:ext cx="601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Mentors: Prof. Jorge Feliciano</a:t>
            </a:r>
            <a:endParaRPr lang="en-P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B9C51-50D7-E334-A999-CA692EE3EB49}"/>
              </a:ext>
            </a:extLst>
          </p:cNvPr>
          <p:cNvSpPr txBox="1"/>
          <p:nvPr/>
        </p:nvSpPr>
        <p:spPr>
          <a:xfrm>
            <a:off x="8267700" y="5640237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Dra. Carmen Caiseda</a:t>
            </a:r>
            <a:endParaRPr lang="en-P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CBCE17-C782-077E-876A-B2924DA94ED9}"/>
              </a:ext>
            </a:extLst>
          </p:cNvPr>
          <p:cNvSpPr txBox="1"/>
          <p:nvPr/>
        </p:nvSpPr>
        <p:spPr>
          <a:xfrm>
            <a:off x="8505825" y="4919844"/>
            <a:ext cx="3238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Onix</a:t>
            </a:r>
            <a:r>
              <a:rPr lang="en-US" sz="2800" dirty="0"/>
              <a:t> González</a:t>
            </a:r>
            <a:endParaRPr lang="en-PR" sz="2800" dirty="0"/>
          </a:p>
        </p:txBody>
      </p:sp>
      <p:pic>
        <p:nvPicPr>
          <p:cNvPr id="11" name="Picture 10" descr="A logo for a company&#10;&#10;Description automatically generated">
            <a:extLst>
              <a:ext uri="{FF2B5EF4-FFF2-40B4-BE49-F238E27FC236}">
                <a16:creationId xmlns:a16="http://schemas.microsoft.com/office/drawing/2014/main" id="{7E278392-7E14-3D26-0622-841447D59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24" y="200007"/>
            <a:ext cx="1596101" cy="798051"/>
          </a:xfrm>
          <a:prstGeom prst="rect">
            <a:avLst/>
          </a:prstGeom>
        </p:spPr>
      </p:pic>
      <p:pic>
        <p:nvPicPr>
          <p:cNvPr id="12" name="Picture 2" descr="Image result for universidad interamericana de puerto rico recinto de bayamon">
            <a:extLst>
              <a:ext uri="{FF2B5EF4-FFF2-40B4-BE49-F238E27FC236}">
                <a16:creationId xmlns:a16="http://schemas.microsoft.com/office/drawing/2014/main" id="{5917AE38-56A7-EEF1-0EFD-19DA5AFFA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8543" y="137582"/>
            <a:ext cx="3177257" cy="76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59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6DF6-5B25-79AF-09F2-0008B7DD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49DED-F98B-AA29-6402-0A09C4EFE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79EAB77-EA1B-845C-B39D-F4147B3C0E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AF7CB-A8CE-582C-C1DB-E6D72AC69A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9AD6ED5E-6255-A10D-1B61-1C38A65A0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403DC-3521-3A53-9255-0D192EBD4F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Visualizations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25D92A4-EE14-BE47-EFF6-F0FD3F4AE6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F6EA68-2AA8-DF86-685C-EC38431277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Results and Discussion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7FFFF704-D039-7DC7-A34E-489FEE26CD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545FBC-2F5C-8772-F385-63E10355830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834A08F-B9C1-B3EF-25F5-A69D401C8B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5285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BA60034-9E02-4BFF-D46B-98C157D6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A91497-60EB-6CC6-BE1A-11323E8A9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4" y="1857375"/>
            <a:ext cx="5915026" cy="3876675"/>
          </a:xfrm>
        </p:spPr>
        <p:txBody>
          <a:bodyPr>
            <a:normAutofit fontScale="85000" lnSpcReduction="10000"/>
          </a:bodyPr>
          <a:lstStyle/>
          <a:p>
            <a:r>
              <a:rPr lang="en-US" sz="2600" dirty="0"/>
              <a:t>September 20, 2017, Puerto Rico got hit by the worst natural disaster in recent history Hurricane Maria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All the Island lost power for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Believed the longest blackout in U.S. history and loss of lives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These events highlight need for a resilient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Objective: quantify the recovery of the electrical infrastructure  </a:t>
            </a:r>
            <a:r>
              <a:rPr lang="en-US" sz="2600" dirty="0">
                <a:solidFill>
                  <a:srgbClr val="FF0000"/>
                </a:solidFill>
              </a:rPr>
              <a:t>and suggest potential solutions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09EE273-65DC-EBC2-149C-7BB5726CE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00E35B6-58C6-ABFD-1333-AA1B7702D1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 descr="A broken power lines in a city&#10;&#10;Description automatically generated">
            <a:extLst>
              <a:ext uri="{FF2B5EF4-FFF2-40B4-BE49-F238E27FC236}">
                <a16:creationId xmlns:a16="http://schemas.microsoft.com/office/drawing/2014/main" id="{38407D1A-3E2D-EB92-4D6D-9D47535B3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0" y="2423403"/>
            <a:ext cx="4347528" cy="289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23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8BD3563-74C4-0E4D-FE4C-A2AA33C3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Management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914057-CF12-017E-B2D8-B25B6E3229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43AAC7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EF1DE-337F-5192-8762-CB5AF953805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5504" y="793971"/>
            <a:ext cx="941832" cy="621792"/>
          </a:xfrm>
        </p:spPr>
        <p:txBody>
          <a:bodyPr/>
          <a:lstStyle/>
          <a:p>
            <a:fld id="{CC43B8D3-9A08-F84C-9DD4-44948BA52D4B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2B9DA50-27D0-1E9C-143F-9F4FD8F5E9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5368436"/>
              </p:ext>
            </p:extLst>
          </p:nvPr>
        </p:nvGraphicFramePr>
        <p:xfrm>
          <a:off x="731838" y="2405063"/>
          <a:ext cx="10717212" cy="3630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932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F53997B6-F3E1-9D78-6854-5167DBD9DE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846963"/>
            <a:ext cx="621792" cy="621792"/>
          </a:xfrm>
          <a:solidFill>
            <a:srgbClr val="43AAC7"/>
          </a:solidFill>
          <a:ln>
            <a:solidFill>
              <a:srgbClr val="00B0F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A8BD3563-74C4-0E4D-FE4C-A2AA33C3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Data analysis - collection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319788-E100-D73A-8F8D-C48972D8E37B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3464" indent="-28346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We extracted Puerto Rico’s Electrical grid data from the PR Institute of Statistics; provided by the island’s current electrical distribution manager, LUMA Energy.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C4FCA5-8D3C-DAEC-9F65-FD0F9EA9C2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576354"/>
            <a:ext cx="5181600" cy="2849879"/>
          </a:xfr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EF1DE-337F-5192-8762-CB5AF953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5786" y="872791"/>
            <a:ext cx="941832" cy="6217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43B8D3-9A08-F84C-9DD4-44948BA52D4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88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ea typeface="Tahoma" panose="020B0604030504040204" pitchFamily="34" charset="0"/>
                <a:cs typeface="Tahoma" panose="020B0604030504040204" pitchFamily="34" charset="0"/>
              </a:rPr>
              <a:t>Excel Visualizations of Max Demand and Weather Data</a:t>
            </a:r>
            <a:endParaRPr lang="en-US" sz="28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Content Placeholder 13" descr="A graph with numbers and dots">
            <a:extLst>
              <a:ext uri="{FF2B5EF4-FFF2-40B4-BE49-F238E27FC236}">
                <a16:creationId xmlns:a16="http://schemas.microsoft.com/office/drawing/2014/main" id="{68515E39-DE5B-CAD0-53F6-5566A0D0E5A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006" y="1696720"/>
            <a:ext cx="4940594" cy="4511993"/>
          </a:xfrm>
          <a:prstGeom prst="rect">
            <a:avLst/>
          </a:prstGeom>
        </p:spPr>
      </p:pic>
      <p:pic>
        <p:nvPicPr>
          <p:cNvPr id="7" name="Content Placeholder 13" descr="A graph with numbers and dots">
            <a:extLst>
              <a:ext uri="{FF2B5EF4-FFF2-40B4-BE49-F238E27FC236}">
                <a16:creationId xmlns:a16="http://schemas.microsoft.com/office/drawing/2014/main" id="{F620BEA6-8DFA-87EF-34A2-E578B6D4403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598" y="1687830"/>
            <a:ext cx="6947194" cy="446722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0031D0E-0898-53E6-F799-653DC9B52DD8}"/>
              </a:ext>
            </a:extLst>
          </p:cNvPr>
          <p:cNvSpPr/>
          <p:nvPr/>
        </p:nvSpPr>
        <p:spPr>
          <a:xfrm>
            <a:off x="5581650" y="3429000"/>
            <a:ext cx="734357" cy="2124076"/>
          </a:xfrm>
          <a:prstGeom prst="ellipse">
            <a:avLst/>
          </a:prstGeom>
          <a:solidFill>
            <a:srgbClr val="FC2834">
              <a:alpha val="1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1891315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Excel Visualizations of Max Demand and Weather Data</a:t>
            </a:r>
            <a:endParaRPr lang="en-US" sz="28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C804315-8256-19CC-9C8F-3E9A369B51A0}"/>
              </a:ext>
            </a:extLst>
          </p:cNvPr>
          <p:cNvSpPr txBox="1">
            <a:spLocks/>
          </p:cNvSpPr>
          <p:nvPr/>
        </p:nvSpPr>
        <p:spPr>
          <a:xfrm>
            <a:off x="853817" y="1757713"/>
            <a:ext cx="10484366" cy="621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>
                <a:latin typeface="Arial Nova" panose="020B05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Seasonality of MaxD from Years 2013-2016, &amp; 2019-2022</a:t>
            </a:r>
            <a:endParaRPr lang="en-US" b="1" dirty="0">
              <a:latin typeface="Arial Nova" panose="020B0504020202020204" pitchFamily="34" charset="0"/>
            </a:endParaRPr>
          </a:p>
        </p:txBody>
      </p:sp>
      <p:pic>
        <p:nvPicPr>
          <p:cNvPr id="9" name="Picture 4" descr="A graph of different colored vertical lines&#10;&#10;Description automatically generated">
            <a:extLst>
              <a:ext uri="{FF2B5EF4-FFF2-40B4-BE49-F238E27FC236}">
                <a16:creationId xmlns:a16="http://schemas.microsoft.com/office/drawing/2014/main" id="{F62B89F8-A07C-F0B0-F831-1DCF525EB6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3951" y="2404872"/>
            <a:ext cx="10371906" cy="363016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31557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 kern="1200">
                <a:latin typeface="+mj-lt"/>
                <a:ea typeface="+mj-ea"/>
                <a:cs typeface="+mj-cs"/>
              </a:rPr>
              <a:t>Excel Visualizations of Max Demand and Weather Data</a:t>
            </a:r>
            <a:endParaRPr lang="en-US" sz="2200" kern="1200">
              <a:latin typeface="+mj-lt"/>
              <a:ea typeface="+mj-ea"/>
              <a:cs typeface="+mj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0DC9D242-517A-53FA-8328-77D84D303A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" r="2810" b="2"/>
          <a:stretch/>
        </p:blipFill>
        <p:spPr bwMode="auto">
          <a:xfrm>
            <a:off x="199898" y="2058000"/>
            <a:ext cx="6746240" cy="324653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C7E8C050-08BC-7CBD-C036-80F0CF39B1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43B8D3-9A08-F84C-9DD4-44948BA52D4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790EBFD-4635-C6CE-F411-928B7235A361}"/>
              </a:ext>
            </a:extLst>
          </p:cNvPr>
          <p:cNvSpPr txBox="1">
            <a:spLocks/>
          </p:cNvSpPr>
          <p:nvPr/>
        </p:nvSpPr>
        <p:spPr>
          <a:xfrm>
            <a:off x="6946138" y="3042506"/>
            <a:ext cx="4046982" cy="18013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 kern="1200" dirty="0"/>
              <a:t>Seasonality of Peak Temperature Weather Data of PR for Years 2013-2016, &amp; 2019-2022.</a:t>
            </a:r>
          </a:p>
          <a:p>
            <a:pPr>
              <a:spcAft>
                <a:spcPts val="600"/>
              </a:spcAft>
            </a:pPr>
            <a:endParaRPr lang="en-US" b="1" kern="1200" dirty="0"/>
          </a:p>
        </p:txBody>
      </p:sp>
    </p:spTree>
    <p:extLst>
      <p:ext uri="{BB962C8B-B14F-4D97-AF65-F5344CB8AC3E}">
        <p14:creationId xmlns:p14="http://schemas.microsoft.com/office/powerpoint/2010/main" val="930661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 kern="1200" dirty="0">
                <a:latin typeface="+mj-lt"/>
                <a:ea typeface="+mj-ea"/>
                <a:cs typeface="+mj-cs"/>
              </a:rPr>
              <a:t>Comparison of Max Demand and Weather Data in Excel</a:t>
            </a:r>
            <a:endParaRPr lang="en-US" sz="22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0DC9D242-517A-53FA-8328-77D84D303A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" r="2810" b="2"/>
          <a:stretch/>
        </p:blipFill>
        <p:spPr bwMode="auto">
          <a:xfrm>
            <a:off x="3293257" y="4160437"/>
            <a:ext cx="5605486" cy="269756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C7E8C050-08BC-7CBD-C036-80F0CF39B1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43B8D3-9A08-F84C-9DD4-44948BA52D4B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2" name="Picture 4" descr="A graph of different colored vertical lines&#10;&#10;Description automatically generated">
            <a:extLst>
              <a:ext uri="{FF2B5EF4-FFF2-40B4-BE49-F238E27FC236}">
                <a16:creationId xmlns:a16="http://schemas.microsoft.com/office/drawing/2014/main" id="{91B598A8-099C-20C7-3F4B-472223C1A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4023" y="1699705"/>
            <a:ext cx="6423954" cy="224838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79360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– Date formatting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993898-3342-0BB5-8585-901E11357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40877" y="4242686"/>
            <a:ext cx="6146081" cy="128351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D99F92-20DC-E3E6-049F-4AF2B807F5C9}"/>
              </a:ext>
            </a:extLst>
          </p:cNvPr>
          <p:cNvSpPr txBox="1"/>
          <p:nvPr/>
        </p:nvSpPr>
        <p:spPr>
          <a:xfrm>
            <a:off x="2437598" y="5770045"/>
            <a:ext cx="700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used to standardize the date in the U.S. format of m/d/y</a:t>
            </a:r>
            <a:endParaRPr lang="LID4096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43F519-CF66-3086-A464-F5671DD57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734" y="1731198"/>
            <a:ext cx="2355971" cy="11240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A70D32-15AA-512F-0B7D-9CB25B8CED19}"/>
              </a:ext>
            </a:extLst>
          </p:cNvPr>
          <p:cNvSpPr txBox="1"/>
          <p:nvPr/>
        </p:nvSpPr>
        <p:spPr>
          <a:xfrm>
            <a:off x="2593735" y="2885440"/>
            <a:ext cx="6493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variety of Python libraries were imported to work with math, plotting and statistics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61847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Python – plots of Gross generation and max demand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F8E09B-08F8-5A54-5DA6-BDAEDC4A4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4008" y="2446021"/>
            <a:ext cx="5160174" cy="3986213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9B527F-D735-4A31-F3A1-11883DD80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497" y="2415541"/>
            <a:ext cx="5160175" cy="398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8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kern="1200" dirty="0">
                <a:latin typeface="+mj-lt"/>
                <a:ea typeface="+mj-ea"/>
                <a:cs typeface="+mj-cs"/>
              </a:rPr>
              <a:t>Python – T test pre and post hurricane</a:t>
            </a:r>
            <a:endParaRPr lang="en-US" sz="28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A96F7733-7434-FA95-04A6-9FA221A2649C}"/>
              </a:ext>
            </a:extLst>
          </p:cNvPr>
          <p:cNvSpPr>
            <a:spLocks/>
          </p:cNvSpPr>
          <p:nvPr/>
        </p:nvSpPr>
        <p:spPr>
          <a:xfrm>
            <a:off x="6035040" y="2382520"/>
            <a:ext cx="3566160" cy="64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CC43B8D3-9A08-F84C-9DD4-44948BA52D4B}" type="slidenum">
              <a:rPr lang="en-US" b="0" kern="1200"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12</a:t>
            </a:fld>
            <a:endParaRPr lang="en-US" b="0" kern="120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192F918-59D0-E1E1-526A-DA90127B4B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7252682"/>
              </p:ext>
            </p:extLst>
          </p:nvPr>
        </p:nvGraphicFramePr>
        <p:xfrm>
          <a:off x="934720" y="2075180"/>
          <a:ext cx="10322560" cy="3479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20720">
                  <a:extLst>
                    <a:ext uri="{9D8B030D-6E8A-4147-A177-3AD203B41FA5}">
                      <a16:colId xmlns:a16="http://schemas.microsoft.com/office/drawing/2014/main" val="3242621629"/>
                    </a:ext>
                  </a:extLst>
                </a:gridCol>
                <a:gridCol w="3605226">
                  <a:extLst>
                    <a:ext uri="{9D8B030D-6E8A-4147-A177-3AD203B41FA5}">
                      <a16:colId xmlns:a16="http://schemas.microsoft.com/office/drawing/2014/main" val="3869398031"/>
                    </a:ext>
                  </a:extLst>
                </a:gridCol>
                <a:gridCol w="3496614">
                  <a:extLst>
                    <a:ext uri="{9D8B030D-6E8A-4147-A177-3AD203B41FA5}">
                      <a16:colId xmlns:a16="http://schemas.microsoft.com/office/drawing/2014/main" val="2297648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</a:t>
                      </a:r>
                      <a:endParaRPr lang="LID4096" dirty="0">
                        <a:latin typeface="Arial Black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Maximum D</a:t>
                      </a:r>
                      <a:endParaRPr lang="LID4096" dirty="0">
                        <a:latin typeface="Arial Black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Gross Generation</a:t>
                      </a:r>
                      <a:endParaRPr lang="LID4096" dirty="0">
                        <a:latin typeface="Arial Black 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020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Mean ± t-critical* SE (</a:t>
                      </a:r>
                      <a:r>
                        <a:rPr lang="en-US" sz="2000" b="0" dirty="0" err="1">
                          <a:latin typeface="Arial "/>
                        </a:rPr>
                        <a:t>Pre,Post</a:t>
                      </a:r>
                      <a:r>
                        <a:rPr lang="en-US" sz="2000" b="0" dirty="0">
                          <a:latin typeface="Arial "/>
                        </a:rPr>
                        <a:t>)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"/>
                        </a:rPr>
                        <a:t>2940 ± 31.15 MW</a:t>
                      </a:r>
                    </a:p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Arial "/>
                      </a:endParaRPr>
                    </a:p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"/>
                        </a:rPr>
                        <a:t>2627 ± 50.12 MW</a:t>
                      </a:r>
                      <a:endParaRPr lang="en-PR" sz="2000" b="0" dirty="0">
                        <a:solidFill>
                          <a:srgbClr val="FF0000"/>
                        </a:solidFill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 algn="ctr">
                        <a:buAutoNum type="arabicPlain" startAt="1787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"/>
                        </a:rPr>
                        <a:t> ± 23.11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Arial "/>
                        </a:rPr>
                        <a:t>MkWh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 "/>
                      </a:endParaRPr>
                    </a:p>
                    <a:p>
                      <a:pPr marL="0" indent="0" algn="ctr">
                        <a:buNone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Arial "/>
                      </a:endParaRPr>
                    </a:p>
                    <a:p>
                      <a:pPr marL="457200" indent="-457200" algn="ctr">
                        <a:buAutoNum type="arabicPlain" startAt="1566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"/>
                        </a:rPr>
                        <a:t> ± 34.43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Arial "/>
                        </a:rPr>
                        <a:t>MkWh</a:t>
                      </a:r>
                      <a:endParaRPr lang="en-US" sz="2000" b="0" dirty="0">
                        <a:solidFill>
                          <a:srgbClr val="FF0000"/>
                        </a:solidFill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96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Variance  Pre</a:t>
                      </a:r>
                    </a:p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Variance Post</a:t>
                      </a:r>
                      <a:endParaRPr lang="en-US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2.52 E4    </a:t>
                      </a:r>
                    </a:p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4.36 E4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1.40 E4</a:t>
                      </a:r>
                    </a:p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2.07 E4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23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Observations (</a:t>
                      </a:r>
                      <a:r>
                        <a:rPr lang="en-US" sz="2000" b="0" dirty="0" err="1">
                          <a:latin typeface="Arial "/>
                        </a:rPr>
                        <a:t>Pre,Pos</a:t>
                      </a:r>
                      <a:r>
                        <a:rPr lang="en-US" sz="2000" b="0" dirty="0">
                          <a:latin typeface="Arial "/>
                        </a:rPr>
                        <a:t>)</a:t>
                      </a:r>
                      <a:endParaRPr lang="en-US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(72, 48)</a:t>
                      </a:r>
                    </a:p>
                    <a:p>
                      <a:pPr algn="ctr"/>
                      <a:r>
                        <a:rPr lang="en-US" sz="2000" b="0" dirty="0" err="1">
                          <a:latin typeface="Arial "/>
                        </a:rPr>
                        <a:t>df</a:t>
                      </a:r>
                      <a:r>
                        <a:rPr lang="en-US" sz="2000" b="0" dirty="0">
                          <a:latin typeface="Arial "/>
                        </a:rPr>
                        <a:t> = 82</a:t>
                      </a:r>
                      <a:endParaRPr lang="en-US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(72,48)</a:t>
                      </a:r>
                    </a:p>
                    <a:p>
                      <a:pPr marL="0" marR="0" lvl="0" indent="0" algn="ctr" defTabSz="21945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err="1">
                          <a:latin typeface="Arial "/>
                        </a:rPr>
                        <a:t>df</a:t>
                      </a:r>
                      <a:r>
                        <a:rPr lang="en-US" sz="2000" b="0" dirty="0">
                          <a:latin typeface="Arial "/>
                        </a:rPr>
                        <a:t> = 118</a:t>
                      </a:r>
                      <a:endParaRPr lang="en-US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325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T-stat </a:t>
                      </a:r>
                    </a:p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 P-value – One-tail 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8.84</a:t>
                      </a:r>
                    </a:p>
                    <a:p>
                      <a:pPr algn="ctr"/>
                      <a:r>
                        <a:rPr lang="en-US" sz="2000" b="0" dirty="0">
                          <a:latin typeface="Arial "/>
                        </a:rPr>
                        <a:t>7.48 E-14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"/>
                        </a:rPr>
                        <a:t>9.19</a:t>
                      </a:r>
                    </a:p>
                    <a:p>
                      <a:pPr algn="ctr"/>
                      <a:r>
                        <a:rPr lang="en-US" sz="1800" b="0" dirty="0">
                          <a:latin typeface="Arial "/>
                        </a:rPr>
                        <a:t> </a:t>
                      </a:r>
                      <a:r>
                        <a:rPr lang="en-US" sz="2000" b="0" dirty="0">
                          <a:latin typeface="Arial "/>
                        </a:rPr>
                        <a:t>8.04 E-16</a:t>
                      </a:r>
                      <a:endParaRPr lang="en-PR" sz="2000" b="0" dirty="0">
                        <a:latin typeface="Arial 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07825"/>
                  </a:ext>
                </a:extLst>
              </a:tr>
            </a:tbl>
          </a:graphicData>
        </a:graphic>
      </p:graphicFrame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/>
          </p:cNvSpPr>
          <p:nvPr/>
        </p:nvSpPr>
        <p:spPr>
          <a:xfrm>
            <a:off x="2324480" y="2455672"/>
            <a:ext cx="416354" cy="41635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3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FC65B13-DBA7-CB3E-F251-880122C1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Discussion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C92178-B239-AAAD-CF10-C0CD04C1BA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1003A-1258-C8AB-E292-CE0E5E612B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E2BD-CD8C-7150-B844-1E9A1FB1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Challenges:</a:t>
            </a:r>
          </a:p>
          <a:p>
            <a:r>
              <a:rPr lang="en-US" dirty="0"/>
              <a:t>Generation has failed to reach its pre-Maria peak</a:t>
            </a:r>
          </a:p>
          <a:p>
            <a:r>
              <a:rPr lang="en-US" dirty="0"/>
              <a:t>The biggest power plant in the island still relies on fossil machines</a:t>
            </a:r>
          </a:p>
          <a:p>
            <a:r>
              <a:rPr lang="en-US" dirty="0"/>
              <a:t>Possible solutions:</a:t>
            </a:r>
          </a:p>
          <a:p>
            <a:r>
              <a:rPr lang="en-US" dirty="0"/>
              <a:t>Capacitor banks to regulate transmission voltage</a:t>
            </a:r>
          </a:p>
          <a:p>
            <a:r>
              <a:rPr lang="en-US" dirty="0"/>
              <a:t>Develop algorithms that can predict demand spikes and system irregularities</a:t>
            </a:r>
          </a:p>
          <a:p>
            <a:r>
              <a:rPr lang="en-US" dirty="0"/>
              <a:t>Replace old power generators with renewable energy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052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729A509-992F-8C10-902D-182448B5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FA0F1E-A920-0194-981E-4B573643B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300" i="1" dirty="0">
                <a:effectLst/>
                <a:latin typeface="Times New Roman" panose="02020603050405020304" pitchFamily="18" charset="0"/>
              </a:rPr>
              <a:t>Generation, consumption, cost, income and customers of the Puerto Rico electrical system</a:t>
            </a:r>
            <a:r>
              <a:rPr lang="en-US" sz="1300" dirty="0">
                <a:effectLst/>
                <a:latin typeface="Times New Roman" panose="02020603050405020304" pitchFamily="18" charset="0"/>
              </a:rPr>
              <a:t>. (2023, March 13). </a:t>
            </a:r>
            <a:r>
              <a:rPr lang="en-US" sz="1300" dirty="0">
                <a:effectLst/>
                <a:latin typeface="Times New Roman" panose="02020603050405020304" pitchFamily="18" charset="0"/>
                <a:hlinkClick r:id="rId3"/>
              </a:rPr>
              <a:t>https://www.indicadores.pr/dataset/generacion-consumo-costo-ingresos-y-clientes-del-sistema-electrico-de-puerto-rico/resource/8025f821-45c1-4c6a-b2f4-8d641cc03df1</a:t>
            </a:r>
            <a:endParaRPr lang="en-US" sz="1300" dirty="0">
              <a:effectLst/>
              <a:latin typeface="Times New Roman" panose="02020603050405020304" pitchFamily="18" charset="0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Sandoval, R. (2019, 18 </a:t>
            </a:r>
            <a:r>
              <a:rPr lang="en-US" sz="13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septiembre</a:t>
            </a: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). </a:t>
            </a:r>
            <a:r>
              <a:rPr lang="en-US" sz="13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HOJA DE RUTA DE RECURSOS  ENERGÉTICOS DISTRIBUIDOS  PARA PUERTO RICO</a:t>
            </a: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hlinkClick r:id="rId4"/>
              </a:rPr>
              <a:t>https://ieefa.org/sites/default/files/2023-01/Hoja-de-ruta-de-recursos-energeticos-distribuidos-para-Puerto-Rico-Fase-I-Final-11_2019.pdf</a:t>
            </a:r>
            <a:endParaRPr lang="en-US" sz="13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300" dirty="0">
                <a:effectLst/>
                <a:latin typeface="Times New Roman" panose="02020603050405020304" pitchFamily="18" charset="0"/>
              </a:rPr>
              <a:t>Irfan, U. (2018, January 4). Puerto Rico and the US Virgin Islands are in the longest blackout in US history. </a:t>
            </a:r>
            <a:r>
              <a:rPr lang="en-US" sz="1300" i="1" dirty="0">
                <a:effectLst/>
                <a:latin typeface="Times New Roman" panose="02020603050405020304" pitchFamily="18" charset="0"/>
              </a:rPr>
              <a:t>Vox</a:t>
            </a:r>
            <a:r>
              <a:rPr lang="en-US" sz="1300" dirty="0">
                <a:effectLst/>
                <a:latin typeface="Times New Roman" panose="02020603050405020304" pitchFamily="18" charset="0"/>
              </a:rPr>
              <a:t>. https://www.vox.com/energy-and-environment/2017/10/30/16560212/puerto-rico-longest-blackout-in-us-history-hurricane-maria-grid-electricity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300" dirty="0">
              <a:effectLst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300" dirty="0">
              <a:effectLst/>
              <a:latin typeface="Times New Roman" panose="02020603050405020304" pitchFamily="18" charset="0"/>
            </a:endParaRPr>
          </a:p>
          <a:p>
            <a:pPr fontAlgn="base"/>
            <a:endParaRPr lang="en-US" sz="1800" dirty="0">
              <a:effectLst/>
              <a:latin typeface="Times New Roman" panose="02020603050405020304" pitchFamily="18" charset="0"/>
            </a:endParaRPr>
          </a:p>
          <a:p>
            <a:pPr fontAlgn="base"/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fontAlgn="base"/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US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A502D19-C614-886C-4945-5880F36E09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46CC291-411B-349C-8657-ED39C084F8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08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45C2F8-2E24-F46B-AC7B-3070B3814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1353" y="2303131"/>
            <a:ext cx="6482080" cy="1975104"/>
          </a:xfrm>
        </p:spPr>
        <p:txBody>
          <a:bodyPr/>
          <a:lstStyle/>
          <a:p>
            <a:pPr algn="ctr"/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161219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441F37-C10B-49C7-9131-D813AD6E94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65A588-1D2A-427C-AA32-A236D95C8F89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230e9df3-be65-4c73-a93b-d1236ebd677e"/>
    <ds:schemaRef ds:uri="http://purl.org/dc/terms/"/>
    <ds:schemaRef ds:uri="http://schemas.microsoft.com/sharepoint/v3"/>
    <ds:schemaRef ds:uri="http://purl.org/dc/dcmitype/"/>
    <ds:schemaRef ds:uri="71af3243-3dd4-4a8d-8c0d-dd76da1f02a5"/>
    <ds:schemaRef ds:uri="16c05727-aa75-4e4a-9b5f-8a80a1165891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FB0F111-FD6B-4279-A9B8-A9ADF27746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Metropolitan design</Template>
  <TotalTime>415</TotalTime>
  <Words>534</Words>
  <Application>Microsoft Office PowerPoint</Application>
  <PresentationFormat>Widescreen</PresentationFormat>
  <Paragraphs>110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Arial </vt:lpstr>
      <vt:lpstr>Arial Black</vt:lpstr>
      <vt:lpstr>Arial Black (Body)</vt:lpstr>
      <vt:lpstr>Arial Nova</vt:lpstr>
      <vt:lpstr>Calibri</vt:lpstr>
      <vt:lpstr>Segoe UI</vt:lpstr>
      <vt:lpstr>Tahoma</vt:lpstr>
      <vt:lpstr>Times New Roman</vt:lpstr>
      <vt:lpstr>Office Theme</vt:lpstr>
      <vt:lpstr>Analysis of Puerto Rico’s Status of Electrical Infrastructure SURE C^2    Daniel Barreiro  </vt:lpstr>
      <vt:lpstr>Agendas</vt:lpstr>
      <vt:lpstr>Introduction</vt:lpstr>
      <vt:lpstr>Data Management </vt:lpstr>
      <vt:lpstr>Data analysis - collection</vt:lpstr>
      <vt:lpstr>Excel Visualizations of Max Demand and Weather Data</vt:lpstr>
      <vt:lpstr>Excel Visualizations of Max Demand and Weather Data</vt:lpstr>
      <vt:lpstr>Excel Visualizations of Max Demand and Weather Data</vt:lpstr>
      <vt:lpstr>Comparison of Max Demand and Weather Data in Excel</vt:lpstr>
      <vt:lpstr>Python – Date formatting</vt:lpstr>
      <vt:lpstr>Python – plots of Gross generation and max demand</vt:lpstr>
      <vt:lpstr>Python – T test pre and post hurricane</vt:lpstr>
      <vt:lpstr>Discussion</vt:lpstr>
      <vt:lpstr>References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Puerto Rico’s electrical Grid Collapse  SURE C^2 Daniel Barreiro Torres</dc:title>
  <dc:creator>Daniel Barreiro</dc:creator>
  <cp:lastModifiedBy>Daniel Barreiro</cp:lastModifiedBy>
  <cp:revision>4</cp:revision>
  <dcterms:created xsi:type="dcterms:W3CDTF">2024-03-26T18:20:31Z</dcterms:created>
  <dcterms:modified xsi:type="dcterms:W3CDTF">2024-04-23T21:23:16Z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